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182880"/>
            <a:ext cx="1463040" cy="1463040"/>
          </a:xfrm>
          <a:prstGeom prst="ellipse">
            <a:avLst/>
          </a:prstGeom>
          <a:solidFill>
            <a:srgbClr val="E9EEFB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" y="6172200"/>
            <a:ext cx="594360" cy="594360"/>
          </a:xfrm>
          <a:prstGeom prst="ellipse">
            <a:avLst/>
          </a:prstGeom>
          <a:solidFill>
            <a:srgbClr val="E9EEF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 · 落地计划与进展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854135" y="347472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54135" y="3474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评分维度：当前进展与整体可行性 · 20%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676656"/>
            <a:ext cx="1042416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落地计划与进展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21792" y="1335024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RepoMesh —— 多 Agent 可观测交付控制平面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1700784"/>
            <a:ext cx="11000232" cy="512064"/>
          </a:xfrm>
          <a:prstGeom prst="roundRect">
            <a:avLst>
              <a:gd name="adj" fmla="val 21429"/>
            </a:avLst>
          </a:prstGeom>
          <a:solidFill>
            <a:srgbClr val="E9EEF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700784"/>
            <a:ext cx="106070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编码交付从「单 Agent 单仓库」</a:t>
            </a:r>
            <a:pPr algn="l" indent="0" marL="0">
              <a:buNone/>
            </a:pPr>
            <a:r>
              <a:rPr lang="en-US" sz="1600" b="1" dirty="0">
                <a:solidFill>
                  <a:srgbClr val="9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，走向 </a:t>
            </a:r>
            <a:pPr algn="l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可协作、可治理、可复用</a:t>
            </a:r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 Agent Infra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2359152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AEB6D6"/>
            </a:solidFill>
            <a:prstDash val="solid"/>
          </a:ln>
          <a:effectLst>
            <a:outerShdw sx="100000" sy="100000" kx="0" ky="0" algn="bl" rotWithShape="0" blurRad="88900" dist="25400" dir="2700000">
              <a:srgbClr val="C7CDDE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58952" y="2542032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25420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79576" y="2523744"/>
            <a:ext cx="462686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面向真实交付场景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79576" y="2926080"/>
            <a:ext cx="4626864" cy="658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企业级跨仓库、跨团队的 AI 编码交付组织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99632" y="2359152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AEB6D6"/>
            </a:solidFill>
            <a:prstDash val="solid"/>
          </a:ln>
          <a:effectLst>
            <a:outerShdw sx="100000" sy="100000" kx="0" ky="0" algn="bl" rotWithShape="0" blurRad="50800" dist="25400" dir="16200000">
              <a:srgbClr val="C7CDDE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64224" y="2542032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6364224" y="25420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84848" y="2523744"/>
            <a:ext cx="462686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闭环协作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84848" y="2926080"/>
            <a:ext cx="4626864" cy="658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 → 执行 → 验证 → 审批 → 发布 → 回滚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" y="3877056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AEB6D6"/>
            </a:solidFill>
            <a:prstDash val="solid"/>
          </a:ln>
          <a:effectLst>
            <a:outerShdw sx="100000" sy="100000" kx="0" ky="0" algn="bl" rotWithShape="0" blurRad="50800" dist="25400" dir="16200000">
              <a:srgbClr val="C7CDDE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58952" y="4059936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F6B35"/>
          </a:solidFill>
          <a:ln/>
        </p:spPr>
      </p:sp>
      <p:sp>
        <p:nvSpPr>
          <p:cNvPr id="23" name="Text 21"/>
          <p:cNvSpPr/>
          <p:nvPr/>
        </p:nvSpPr>
        <p:spPr>
          <a:xfrm>
            <a:off x="758952" y="40599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79576" y="4041648"/>
            <a:ext cx="462686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工程化资产沉淀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79576" y="4443984"/>
            <a:ext cx="4626864" cy="658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契约、证据、评估数据与可复用模板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99632" y="3877056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AEB6D6"/>
            </a:solidFill>
            <a:prstDash val="solid"/>
          </a:ln>
          <a:effectLst>
            <a:outerShdw sx="100000" sy="100000" kx="0" ky="0" algn="bl" rotWithShape="0" blurRad="50800" dist="25400" dir="16200000">
              <a:srgbClr val="C7CDDE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64224" y="4059936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F6B35"/>
          </a:solidFill>
          <a:ln/>
        </p:spPr>
      </p:sp>
      <p:sp>
        <p:nvSpPr>
          <p:cNvPr id="28" name="Text 26"/>
          <p:cNvSpPr/>
          <p:nvPr/>
        </p:nvSpPr>
        <p:spPr>
          <a:xfrm>
            <a:off x="6364224" y="40599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84848" y="4041648"/>
            <a:ext cx="462686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可观测可审计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84848" y="4443984"/>
            <a:ext cx="4626864" cy="658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全链路观测 · 授权快照 · 可回滚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4360" y="5431536"/>
            <a:ext cx="3529584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AEB6D6"/>
            </a:solidFill>
            <a:prstDash val="solid"/>
          </a:ln>
          <a:effectLst>
            <a:outerShdw sx="100000" sy="100000" kx="0" ky="0" algn="bl" rotWithShape="0" blurRad="50800" dist="25400" dir="16200000">
              <a:srgbClr val="C7CDDE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94360" y="5559552"/>
            <a:ext cx="64008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3" name="Text 31"/>
          <p:cNvSpPr/>
          <p:nvPr/>
        </p:nvSpPr>
        <p:spPr>
          <a:xfrm>
            <a:off x="832104" y="5559552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真实接入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32104" y="5779008"/>
            <a:ext cx="312724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已跑通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2104" y="6089904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跨仓库真实交付链路闭环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329684" y="5431536"/>
            <a:ext cx="3529584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AEB6D6"/>
            </a:solidFill>
            <a:prstDash val="solid"/>
          </a:ln>
          <a:effectLst>
            <a:outerShdw sx="100000" sy="100000" kx="0" ky="0" algn="bl" rotWithShape="0" blurRad="50800" dist="25400" dir="16200000">
              <a:srgbClr val="C7CDDE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329684" y="5559552"/>
            <a:ext cx="64008" cy="640080"/>
          </a:xfrm>
          <a:prstGeom prst="rect">
            <a:avLst/>
          </a:prstGeom>
          <a:solidFill>
            <a:srgbClr val="AEB6D6"/>
          </a:solidFill>
          <a:ln/>
        </p:spPr>
      </p:sp>
      <p:sp>
        <p:nvSpPr>
          <p:cNvPr id="38" name="Text 36"/>
          <p:cNvSpPr/>
          <p:nvPr/>
        </p:nvSpPr>
        <p:spPr>
          <a:xfrm>
            <a:off x="4567428" y="5559552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67428" y="5779008"/>
            <a:ext cx="312724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567428" y="6089904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 / 日志 / 按 Issue 下钻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065008" y="5431536"/>
            <a:ext cx="3529584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AEB6D6"/>
            </a:solidFill>
            <a:prstDash val="solid"/>
          </a:ln>
          <a:effectLst>
            <a:outerShdw sx="100000" sy="100000" kx="0" ky="0" algn="bl" rotWithShape="0" blurRad="50800" dist="25400" dir="16200000">
              <a:srgbClr val="C7CDDE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065008" y="5559552"/>
            <a:ext cx="64008" cy="640080"/>
          </a:xfrm>
          <a:prstGeom prst="rect">
            <a:avLst/>
          </a:prstGeom>
          <a:solidFill>
            <a:srgbClr val="AEB6D6"/>
          </a:solidFill>
          <a:ln/>
        </p:spPr>
      </p:sp>
      <p:sp>
        <p:nvSpPr>
          <p:cNvPr id="43" name="Text 41"/>
          <p:cNvSpPr/>
          <p:nvPr/>
        </p:nvSpPr>
        <p:spPr>
          <a:xfrm>
            <a:off x="8302752" y="5559552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302752" y="5779008"/>
            <a:ext cx="312724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302752" y="6089904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多数据集评估与离线评分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1183112" y="641908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50" dirty="0"/>
          </a:p>
        </p:txBody>
      </p:sp>
      <p:sp>
        <p:nvSpPr>
          <p:cNvPr id="4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 · 7.2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9402775" y="347472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02775" y="34747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边界地图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0058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实现边界与复赛计划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初赛可演示 · 复赛可验证 · 开放可复用 —— 边界清晰，逐项可验收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828800"/>
            <a:ext cx="3538728" cy="4315968"/>
          </a:xfrm>
          <a:prstGeom prst="roundRect">
            <a:avLst>
              <a:gd name="adj" fmla="val 2584"/>
            </a:avLst>
          </a:prstGeom>
          <a:solidFill>
            <a:srgbClr val="FFFFFF"/>
          </a:solidFill>
          <a:ln w="12700">
            <a:solidFill>
              <a:srgbClr val="AEB6D6"/>
            </a:solidFill>
            <a:prstDash val="solid"/>
          </a:ln>
          <a:effectLst>
            <a:outerShdw sx="100000" sy="100000" kx="0" ky="0" algn="bl" rotWithShape="0" blurRad="50800" dist="25400" dir="16200000">
              <a:srgbClr val="C7CDDE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828800"/>
            <a:ext cx="3538728" cy="475488"/>
          </a:xfrm>
          <a:prstGeom prst="roundRect">
            <a:avLst>
              <a:gd name="adj" fmla="val 19231"/>
            </a:avLst>
          </a:prstGeom>
          <a:solidFill>
            <a:srgbClr val="2A2F5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28800"/>
            <a:ext cx="216712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初赛 V0.2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072384" y="192938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72384" y="19293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可演示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95528" y="2569464"/>
            <a:ext cx="91440" cy="914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978408" y="2505456"/>
            <a:ext cx="2990088" cy="65471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交付闭环 GUI 演示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" y="3260750"/>
            <a:ext cx="91440" cy="914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978408" y="3196742"/>
            <a:ext cx="2990088" cy="65471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跨仓库真实交付链路（PR / CI / 审批 / 合并）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5528" y="3952037"/>
            <a:ext cx="91440" cy="914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978408" y="3888029"/>
            <a:ext cx="2990088" cy="65471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可观测全链路（Trace / 日志 / 下钻）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5528" y="4643323"/>
            <a:ext cx="91440" cy="914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978408" y="4579315"/>
            <a:ext cx="2990088" cy="65471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契约与证据留痕（Evidence Pack）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95528" y="5334610"/>
            <a:ext cx="91440" cy="914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978408" y="5270602"/>
            <a:ext cx="2990088" cy="65471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离线评估与评分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25112" y="1828800"/>
            <a:ext cx="3538728" cy="4315968"/>
          </a:xfrm>
          <a:prstGeom prst="roundRect">
            <a:avLst>
              <a:gd name="adj" fmla="val 2584"/>
            </a:avLst>
          </a:prstGeom>
          <a:solidFill>
            <a:srgbClr val="FFFFFF"/>
          </a:solidFill>
          <a:ln w="12700">
            <a:solidFill>
              <a:srgbClr val="AEB6D6"/>
            </a:solidFill>
            <a:prstDash val="solid"/>
          </a:ln>
          <a:effectLst>
            <a:outerShdw sx="100000" sy="100000" kx="0" ky="0" algn="bl" rotWithShape="0" blurRad="50800" dist="25400" dir="16200000">
              <a:srgbClr val="C7CDDE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25112" y="1828800"/>
            <a:ext cx="3538728" cy="475488"/>
          </a:xfrm>
          <a:prstGeom prst="roundRect">
            <a:avLst>
              <a:gd name="adj" fmla="val 19231"/>
            </a:avLst>
          </a:prstGeom>
          <a:solidFill>
            <a:srgbClr val="2A2F5B"/>
          </a:solidFill>
          <a:ln/>
        </p:spPr>
      </p:sp>
      <p:sp>
        <p:nvSpPr>
          <p:cNvPr id="24" name="Text 22"/>
          <p:cNvSpPr/>
          <p:nvPr/>
        </p:nvSpPr>
        <p:spPr>
          <a:xfrm>
            <a:off x="4507992" y="1828800"/>
            <a:ext cx="216712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复赛 V0.5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03136" y="192938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03136" y="19293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可验证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26280" y="2569464"/>
            <a:ext cx="91440" cy="914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2505456"/>
            <a:ext cx="2990088" cy="65471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多数据集严谨验证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26280" y="3260750"/>
            <a:ext cx="91440" cy="914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0" name="Text 28"/>
          <p:cNvSpPr/>
          <p:nvPr/>
        </p:nvSpPr>
        <p:spPr>
          <a:xfrm>
            <a:off x="4709160" y="3196742"/>
            <a:ext cx="2990088" cy="65471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多仓库 / 多任务并发交付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26280" y="3952037"/>
            <a:ext cx="91440" cy="914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2" name="Text 30"/>
          <p:cNvSpPr/>
          <p:nvPr/>
        </p:nvSpPr>
        <p:spPr>
          <a:xfrm>
            <a:off x="4709160" y="3888029"/>
            <a:ext cx="2990088" cy="65471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执行白名单与安全治理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26280" y="4643323"/>
            <a:ext cx="91440" cy="914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4" name="Text 32"/>
          <p:cNvSpPr/>
          <p:nvPr/>
        </p:nvSpPr>
        <p:spPr>
          <a:xfrm>
            <a:off x="4709160" y="4579315"/>
            <a:ext cx="2990088" cy="65471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交付上线延伸（K8s / CI/CD）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26280" y="5334610"/>
            <a:ext cx="91440" cy="914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6" name="Text 34"/>
          <p:cNvSpPr/>
          <p:nvPr/>
        </p:nvSpPr>
        <p:spPr>
          <a:xfrm>
            <a:off x="4709160" y="5270602"/>
            <a:ext cx="2990088" cy="65471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在线评分闭环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055864" y="1828800"/>
            <a:ext cx="3538728" cy="4315968"/>
          </a:xfrm>
          <a:prstGeom prst="roundRect">
            <a:avLst>
              <a:gd name="adj" fmla="val 2584"/>
            </a:avLst>
          </a:prstGeom>
          <a:solidFill>
            <a:srgbClr val="FFFFFF"/>
          </a:solidFill>
          <a:ln w="12700">
            <a:solidFill>
              <a:srgbClr val="AEB6D6"/>
            </a:solidFill>
            <a:prstDash val="solid"/>
          </a:ln>
          <a:effectLst>
            <a:outerShdw sx="100000" sy="100000" kx="0" ky="0" algn="bl" rotWithShape="0" blurRad="50800" dist="25400" dir="16200000">
              <a:srgbClr val="C7CDDE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055864" y="1828800"/>
            <a:ext cx="3538728" cy="475488"/>
          </a:xfrm>
          <a:prstGeom prst="roundRect">
            <a:avLst>
              <a:gd name="adj" fmla="val 19231"/>
            </a:avLst>
          </a:prstGeom>
          <a:solidFill>
            <a:srgbClr val="2A2F5B"/>
          </a:solidFill>
          <a:ln/>
        </p:spPr>
      </p:sp>
      <p:sp>
        <p:nvSpPr>
          <p:cNvPr id="39" name="Text 37"/>
          <p:cNvSpPr/>
          <p:nvPr/>
        </p:nvSpPr>
        <p:spPr>
          <a:xfrm>
            <a:off x="8238744" y="1828800"/>
            <a:ext cx="216712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开放计划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10533888" y="192938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533888" y="19293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257032" y="2569464"/>
            <a:ext cx="91440" cy="914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3" name="Text 41"/>
          <p:cNvSpPr/>
          <p:nvPr/>
        </p:nvSpPr>
        <p:spPr>
          <a:xfrm>
            <a:off x="8439912" y="2505456"/>
            <a:ext cx="2990088" cy="65471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/ Skill 模板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257032" y="3260750"/>
            <a:ext cx="91440" cy="914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5" name="Text 43"/>
          <p:cNvSpPr/>
          <p:nvPr/>
        </p:nvSpPr>
        <p:spPr>
          <a:xfrm>
            <a:off x="8439912" y="3196742"/>
            <a:ext cx="2990088" cy="65471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适配器与离线 mock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257032" y="3952037"/>
            <a:ext cx="91440" cy="914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7" name="Text 45"/>
          <p:cNvSpPr/>
          <p:nvPr/>
        </p:nvSpPr>
        <p:spPr>
          <a:xfrm>
            <a:off x="8439912" y="3888029"/>
            <a:ext cx="2990088" cy="65471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评估数据集与事故回放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257032" y="4643323"/>
            <a:ext cx="91440" cy="914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9" name="Text 47"/>
          <p:cNvSpPr/>
          <p:nvPr/>
        </p:nvSpPr>
        <p:spPr>
          <a:xfrm>
            <a:off x="8439912" y="4579315"/>
            <a:ext cx="2990088" cy="65471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部署与演示脚本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257032" y="5334610"/>
            <a:ext cx="91440" cy="914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1" name="Text 49"/>
          <p:cNvSpPr/>
          <p:nvPr/>
        </p:nvSpPr>
        <p:spPr>
          <a:xfrm>
            <a:off x="8439912" y="5270602"/>
            <a:ext cx="2990088" cy="65471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契约与语义规范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1183112" y="641908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50" dirty="0"/>
          </a:p>
        </p:txBody>
      </p:sp>
      <p:sp>
        <p:nvSpPr>
          <p:cNvPr id="5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 · 7.3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9402775" y="347472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02775" y="34747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整体可行性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0058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关键进展与整体可行性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以能力维度呈现关键进展 —— 真实接入已跑通 · 可观测已完成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828800"/>
            <a:ext cx="667512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AEB6D6"/>
            </a:solidFill>
            <a:prstDash val="solid"/>
          </a:ln>
          <a:effectLst>
            <a:outerShdw sx="100000" sy="100000" kx="0" ky="0" algn="bl" rotWithShape="0" blurRad="50800" dist="25400" dir="16200000">
              <a:srgbClr val="C7CDDE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828800"/>
            <a:ext cx="6675120" cy="457200"/>
          </a:xfrm>
          <a:prstGeom prst="roundRect">
            <a:avLst>
              <a:gd name="adj" fmla="val 20000"/>
            </a:avLst>
          </a:prstGeom>
          <a:solidFill>
            <a:srgbClr val="2A2F5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2880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关键进展 · 能力提升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0664" y="246888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740664" y="2468880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43000" y="2414016"/>
            <a:ext cx="596188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仓库扫描能力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2724912"/>
            <a:ext cx="5961888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多仓库覆盖与依赖解析能力持续提升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14400" y="3182112"/>
            <a:ext cx="6035040" cy="10973"/>
          </a:xfrm>
          <a:prstGeom prst="rect">
            <a:avLst/>
          </a:prstGeom>
          <a:solidFill>
            <a:srgbClr val="E9EEFB"/>
          </a:solidFill>
          <a:ln/>
        </p:spPr>
      </p:sp>
      <p:sp>
        <p:nvSpPr>
          <p:cNvPr id="15" name="Shape 13"/>
          <p:cNvSpPr/>
          <p:nvPr/>
        </p:nvSpPr>
        <p:spPr>
          <a:xfrm>
            <a:off x="740664" y="329184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740664" y="3291840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3000" y="3236976"/>
            <a:ext cx="596188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严谨验证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547872"/>
            <a:ext cx="5961888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多数据集评估 · 离线评分工具联动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14400" y="4005072"/>
            <a:ext cx="6035040" cy="10973"/>
          </a:xfrm>
          <a:prstGeom prst="rect">
            <a:avLst/>
          </a:prstGeom>
          <a:solidFill>
            <a:srgbClr val="E9EEFB"/>
          </a:solidFill>
          <a:ln/>
        </p:spPr>
      </p:sp>
      <p:sp>
        <p:nvSpPr>
          <p:cNvPr id="20" name="Shape 18"/>
          <p:cNvSpPr/>
          <p:nvPr/>
        </p:nvSpPr>
        <p:spPr>
          <a:xfrm>
            <a:off x="740664" y="411480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740664" y="4114800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" y="4059936"/>
            <a:ext cx="596188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交付功能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000" y="4370832"/>
            <a:ext cx="5961888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真实接入已跑通 · 闭环治理机制完善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14400" y="4828032"/>
            <a:ext cx="6035040" cy="10973"/>
          </a:xfrm>
          <a:prstGeom prst="rect">
            <a:avLst/>
          </a:prstGeom>
          <a:solidFill>
            <a:srgbClr val="E9EEFB"/>
          </a:solidFill>
          <a:ln/>
        </p:spPr>
      </p:sp>
      <p:sp>
        <p:nvSpPr>
          <p:cNvPr id="25" name="Shape 23"/>
          <p:cNvSpPr/>
          <p:nvPr/>
        </p:nvSpPr>
        <p:spPr>
          <a:xfrm>
            <a:off x="740664" y="493776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26" name="Text 24"/>
          <p:cNvSpPr/>
          <p:nvPr/>
        </p:nvSpPr>
        <p:spPr>
          <a:xfrm>
            <a:off x="740664" y="4937760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" y="4882896"/>
            <a:ext cx="596188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观测能力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43000" y="5193792"/>
            <a:ext cx="5961888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 Trace / 日志 / 按 Issue 下钻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452360" y="1828800"/>
            <a:ext cx="4142232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AEB6D6"/>
            </a:solidFill>
            <a:prstDash val="solid"/>
          </a:ln>
          <a:effectLst>
            <a:outerShdw sx="100000" sy="100000" kx="0" ky="0" algn="bl" rotWithShape="0" blurRad="50800" dist="25400" dir="16200000">
              <a:srgbClr val="C7CDDE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52360" y="1828800"/>
            <a:ext cx="4142232" cy="457200"/>
          </a:xfrm>
          <a:prstGeom prst="roundRect">
            <a:avLst>
              <a:gd name="adj" fmla="val 20000"/>
            </a:avLst>
          </a:prstGeom>
          <a:solidFill>
            <a:srgbClr val="2A2F5B"/>
          </a:solidFill>
          <a:ln/>
        </p:spPr>
      </p:sp>
      <p:sp>
        <p:nvSpPr>
          <p:cNvPr id="31" name="Text 29"/>
          <p:cNvSpPr/>
          <p:nvPr/>
        </p:nvSpPr>
        <p:spPr>
          <a:xfrm>
            <a:off x="7635240" y="182880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整体可行性 · 风险控制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598664" y="246888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33" name="Text 31"/>
          <p:cNvSpPr/>
          <p:nvPr/>
        </p:nvSpPr>
        <p:spPr>
          <a:xfrm>
            <a:off x="7598664" y="2468880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001000" y="2414016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核心链路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001000" y="2724912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真实接入与可观测均已完成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726680" y="3182112"/>
            <a:ext cx="3611880" cy="10973"/>
          </a:xfrm>
          <a:prstGeom prst="rect">
            <a:avLst/>
          </a:prstGeom>
          <a:solidFill>
            <a:srgbClr val="E9EEFB"/>
          </a:solidFill>
          <a:ln/>
        </p:spPr>
      </p:sp>
      <p:sp>
        <p:nvSpPr>
          <p:cNvPr id="37" name="Shape 35"/>
          <p:cNvSpPr/>
          <p:nvPr/>
        </p:nvSpPr>
        <p:spPr>
          <a:xfrm>
            <a:off x="7598664" y="329184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38" name="Text 36"/>
          <p:cNvSpPr/>
          <p:nvPr/>
        </p:nvSpPr>
        <p:spPr>
          <a:xfrm>
            <a:off x="7598664" y="3291840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001000" y="3236976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数据支撑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001000" y="3547872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评估数据集 · 回放与评分脚本就绪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726680" y="4005072"/>
            <a:ext cx="3611880" cy="10973"/>
          </a:xfrm>
          <a:prstGeom prst="rect">
            <a:avLst/>
          </a:prstGeom>
          <a:solidFill>
            <a:srgbClr val="E9EEFB"/>
          </a:solidFill>
          <a:ln/>
        </p:spPr>
      </p:sp>
      <p:sp>
        <p:nvSpPr>
          <p:cNvPr id="42" name="Shape 40"/>
          <p:cNvSpPr/>
          <p:nvPr/>
        </p:nvSpPr>
        <p:spPr>
          <a:xfrm>
            <a:off x="7598664" y="411480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43" name="Text 41"/>
          <p:cNvSpPr/>
          <p:nvPr/>
        </p:nvSpPr>
        <p:spPr>
          <a:xfrm>
            <a:off x="7598664" y="4114800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001000" y="4059936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交付保障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001000" y="4370832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 / 审批 / 回滚机制闭环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726680" y="4828032"/>
            <a:ext cx="3611880" cy="10973"/>
          </a:xfrm>
          <a:prstGeom prst="rect">
            <a:avLst/>
          </a:prstGeom>
          <a:solidFill>
            <a:srgbClr val="E9EEFB"/>
          </a:solidFill>
          <a:ln/>
        </p:spPr>
      </p:sp>
      <p:sp>
        <p:nvSpPr>
          <p:cNvPr id="47" name="Shape 45"/>
          <p:cNvSpPr/>
          <p:nvPr/>
        </p:nvSpPr>
        <p:spPr>
          <a:xfrm>
            <a:off x="7598664" y="493776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48" name="Text 46"/>
          <p:cNvSpPr/>
          <p:nvPr/>
        </p:nvSpPr>
        <p:spPr>
          <a:xfrm>
            <a:off x="7598664" y="4937760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001000" y="4882896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风险可控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001000" y="5193792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依赖降级 · 假绿拦截 · 安全隔离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94360" y="5961888"/>
            <a:ext cx="11000232" cy="384048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  <a:effectLst>
            <a:outerShdw sx="100000" sy="100000" kx="0" ky="0" algn="bl" rotWithShape="0" blurRad="50800" dist="25400" dir="16200000">
              <a:srgbClr val="C7CDDE">
                <a:alpha val="1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365760" y="5961888"/>
            <a:ext cx="10268712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整体可行性结论：</a:t>
            </a:r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进展扎实 · 计划清晰 · 风险可控 —— 已具备规模化验证与参赛交付条件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11183112" y="641908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50" dirty="0"/>
          </a:p>
        </p:txBody>
      </p:sp>
      <p:sp>
        <p:nvSpPr>
          <p:cNvPr id="5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RepoMesh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2026-08-16T11:06:07Z</dcterms:created>
  <dcterms:modified xsi:type="dcterms:W3CDTF">2026-08-16T11:06:07Z</dcterms:modified>
</cp:coreProperties>
</file>