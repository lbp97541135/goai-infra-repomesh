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3931920"/>
            <a:ext cx="1645920" cy="1645920"/>
          </a:xfrm>
          <a:prstGeom prst="ellipse">
            <a:avLst/>
          </a:prstGeom>
          <a:solidFill>
            <a:srgbClr val="2A2F5B"/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4343400"/>
            <a:ext cx="1097280" cy="1097280"/>
          </a:xfrm>
          <a:prstGeom prst="ellipse">
            <a:avLst/>
          </a:prstGeom>
          <a:solidFill>
            <a:srgbClr val="2A2F5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 场景与价值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13232" y="3931920"/>
            <a:ext cx="10515600" cy="713232"/>
          </a:xfrm>
          <a:prstGeom prst="roundRect">
            <a:avLst>
              <a:gd name="adj" fmla="val 50000"/>
            </a:avLst>
          </a:prstGeom>
          <a:solidFill>
            <a:srgbClr val="2A2F5B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931920"/>
            <a:ext cx="101498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把产品需求自动转化为 </a:t>
            </a:r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「经过独立验证 · 可观测 · 可审计 · 可回滚」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的交付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5212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Agent Infra 新智基座 · 初赛方案 · 第一章（权重 25%）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2092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A2F5B"/>
          </a:solidFill>
          <a:ln/>
        </p:spPr>
      </p:sp>
      <p:sp>
        <p:nvSpPr>
          <p:cNvPr id="11" name="Text 9"/>
          <p:cNvSpPr/>
          <p:nvPr/>
        </p:nvSpPr>
        <p:spPr>
          <a:xfrm>
            <a:off x="102092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目标用户与痛点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2696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A2F5B"/>
          </a:solidFill>
          <a:ln/>
        </p:spPr>
      </p:sp>
      <p:sp>
        <p:nvSpPr>
          <p:cNvPr id="13" name="Text 11"/>
          <p:cNvSpPr/>
          <p:nvPr/>
        </p:nvSpPr>
        <p:spPr>
          <a:xfrm>
            <a:off x="362696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A2F5B"/>
          </a:solidFill>
          <a:ln/>
        </p:spPr>
      </p:sp>
      <p:sp>
        <p:nvSpPr>
          <p:cNvPr id="15" name="Text 13"/>
          <p:cNvSpPr/>
          <p:nvPr/>
        </p:nvSpPr>
        <p:spPr>
          <a:xfrm>
            <a:off x="623300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3904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A2F5B"/>
          </a:solidFill>
          <a:ln/>
        </p:spPr>
      </p:sp>
      <p:sp>
        <p:nvSpPr>
          <p:cNvPr id="17" name="Text 15"/>
          <p:cNvSpPr/>
          <p:nvPr/>
        </p:nvSpPr>
        <p:spPr>
          <a:xfrm>
            <a:off x="883904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创新与差异化</a:t>
            </a:r>
            <a:endParaRPr lang="en-US" sz="12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1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92024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2A2F5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0482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目标用户与核心痛点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245059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行业数据 + 跨仓库交付的真实瓶颈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2A2F5B"/>
          </a:solidFill>
          <a:ln/>
        </p:spPr>
      </p:sp>
      <p:sp>
        <p:nvSpPr>
          <p:cNvPr id="9" name="Shape 7"/>
          <p:cNvSpPr/>
          <p:nvPr/>
        </p:nvSpPr>
        <p:spPr>
          <a:xfrm>
            <a:off x="6629400" y="2212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20482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23760" y="245059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PRD 到「发布 + 回滚」的完整链路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20040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2A2F5B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4930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328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37307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开源对象 + 离线评估集，无需企业私码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3200400"/>
            <a:ext cx="5394960" cy="960120"/>
          </a:xfrm>
          <a:prstGeom prst="roundRect">
            <a:avLst>
              <a:gd name="adj" fmla="val 13333"/>
            </a:avLst>
          </a:prstGeom>
          <a:solidFill>
            <a:srgbClr val="2A2F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629400" y="34930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332841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创新点与差异化优势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23760" y="3730752"/>
            <a:ext cx="43434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自动扫描仓库 + 动态加入，突破会话固定仓库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493776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2A2F5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93776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本部分：场景与价值 —— 对应评分维度「</a:t>
            </a:r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场景价值与行业可复制性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」，权重 25%</a:t>
            </a:r>
            <a:endParaRPr lang="en-US" sz="13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632" y="365760"/>
            <a:ext cx="4480560" cy="78638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3" name="Text 1"/>
          <p:cNvSpPr/>
          <p:nvPr/>
        </p:nvSpPr>
        <p:spPr>
          <a:xfrm>
            <a:off x="7543800" y="4389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对应评分维度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43800" y="67665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场景价值与行业可复制性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530352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771632" y="530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场景与价值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7373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 目标用户与核心痛点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痛点来自行业数据，也来自跨仓库交付的真实瓶颈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4023" y="384048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4023" y="384048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· 有据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956816"/>
            <a:ext cx="146304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" y="1920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58775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5877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61288" y="245973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研发与平台负责人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1288" y="275234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需要把「Agent 提效」转化为可证明、可审计的交付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3756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59359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593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34655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企业存量代码库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75818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多仓库、跨技术栈，真实需求从来不止一个仓库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343400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599432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45994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61288" y="44714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开源社区与评估者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61288" y="4764024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需要无需企业私码即可复现的验证方法与证据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1956816"/>
            <a:ext cx="146304" cy="14630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5239512" y="1920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核心痛点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983480" y="2331720"/>
            <a:ext cx="65836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9784" y="254203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2377440"/>
            <a:ext cx="6080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发布不稳 · 无法观测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49240" y="2624328"/>
            <a:ext cx="6080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DORA 四指标：发布成功率、变更前置时间不可见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2971800"/>
            <a:ext cx="65836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9784" y="318211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5349240" y="3017520"/>
            <a:ext cx="6080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 · 自测自证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49240" y="3264408"/>
            <a:ext cx="6080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自己声明成功、自己跑测试，无独立验证方与可审计证据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3611880"/>
            <a:ext cx="65836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9784" y="3822192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3657600"/>
            <a:ext cx="6080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单仓库 · 短任务天花板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349240" y="3904488"/>
            <a:ext cx="60807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单会话工作区 1 仓库 1 PR 59 分钟，真实需求跨多仓库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83480" y="4315968"/>
            <a:ext cx="6583680" cy="914400"/>
          </a:xfrm>
          <a:prstGeom prst="roundRect">
            <a:avLst>
              <a:gd name="adj" fmla="val 14000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4379976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跨仓库交付的三大瓶颈（单会话工作区）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4654296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上下文窗口：多仓库深入读取更快填满窗口，只能拆会话、共享文档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484632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分支管理：无法跨仓库管理分支，只能人工跟踪各仓库所在分支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5038344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非单仓库：工作区不是 git 仓库，跨仓变更须逐仓提交、手动协调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4360" y="553212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960120" y="5532120"/>
            <a:ext cx="1026871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企业不缺代码生成工具，缺的是把「生成速度」转化为「稳定、可验证、可追溯」交付的控制体系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4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 真实场景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PRD 到「发布 + 回滚」：一次跨仓库交付的完整链路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56087" y="3840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56087" y="38404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PRD 输入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38528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10" name="Text 8"/>
          <p:cNvSpPr/>
          <p:nvPr/>
        </p:nvSpPr>
        <p:spPr>
          <a:xfrm>
            <a:off x="1993392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需求澄清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82696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仓库扫描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26864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计划编排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71032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6025896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多 Agent 执行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0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70064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独立验证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59368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1B1F3B"/>
          </a:solidFill>
          <a:ln/>
        </p:spPr>
      </p:sp>
      <p:sp>
        <p:nvSpPr>
          <p:cNvPr id="20" name="Text 18"/>
          <p:cNvSpPr/>
          <p:nvPr/>
        </p:nvSpPr>
        <p:spPr>
          <a:xfrm>
            <a:off x="8714232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审计追溯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003536" y="2011680"/>
            <a:ext cx="1207008" cy="914400"/>
          </a:xfrm>
          <a:prstGeom prst="roundRect">
            <a:avLst>
              <a:gd name="adj" fmla="val 14000"/>
            </a:avLst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2066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发布 + 回滚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3200400"/>
            <a:ext cx="53949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36499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3649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自动命中 4 仓库 · 跨 7 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开源真实场景 —— Saleor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409651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自动扫描出涉及仓库：core / platform / extensions / tests</a:t>
            </a:r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并行实现，跨仓库协同编排</a:t>
            </a:r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+ 审计证据回传，全程可追溯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9632" y="3200400"/>
            <a:ext cx="539496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82512" y="336499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336499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全链路实测闭环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82512" y="37673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PRD 到「发布 + 回滚」一次成型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82512" y="409651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→ 计划 → 执行 → 验证 → 发布 → 回滚，全链路可观测</a:t>
            </a:r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故障演练：发布异常后一键回滚，不留残留状态</a:t>
            </a:r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 = Release Candidate：可验证、可审计、可追溯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5440680"/>
            <a:ext cx="11000232" cy="50292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544068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一个需求 = 一个可验证的交付闭环：扫描仓库 → 自动编排 → 独立验证 → 审计可追溯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 行业可复制性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开源验证对象 + 离线评估集 + 方法论迁移，无需企业私码即可复现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756087" y="384048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56087" y="384048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103120"/>
            <a:ext cx="53949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07592" y="2286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多仓库开源对象 · Saleor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5528" y="26700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五仓库真实规模：自动扫描、跨仓编排、独立验证全链路已打通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2103120"/>
            <a:ext cx="53949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12864" y="2286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微服务样本 · TrainTicket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0" y="26700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层依赖图、25+ 服务：跨技术栈编排已验证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566160"/>
            <a:ext cx="53949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07592" y="37490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方法论可迁移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5528" y="41330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仓库池 + 依赖图 + 验证器 + 证据链，可复制到任意多仓代码库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9632" y="3566160"/>
            <a:ext cx="53949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5240">
            <a:solidFill>
              <a:srgbClr val="E9EE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3749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12864" y="37490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场景可扩展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0" y="41330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/ 后端 / 数据 / 文档全栈交付，统一由同一控制平面编排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5074920"/>
            <a:ext cx="11000232" cy="658368"/>
          </a:xfrm>
          <a:prstGeom prst="roundRect">
            <a:avLst>
              <a:gd name="adj" fmla="val 16667"/>
            </a:avLst>
          </a:prstGeom>
          <a:solidFill>
            <a:srgbClr val="E9EEF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120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可复制性从哪来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00400" y="512978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无需企业私码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540410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验证基于开源对象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512978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离线评估集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0" y="540410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 · 可比对 · 可审计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869680" y="5129784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方法即产品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540410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仓库发现 / 依赖图 / 验证器随方案交付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" y="5897880"/>
            <a:ext cx="11000232" cy="41148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6" name="Text 34"/>
          <p:cNvSpPr/>
          <p:nvPr/>
        </p:nvSpPr>
        <p:spPr>
          <a:xfrm>
            <a:off x="960120" y="5897880"/>
            <a:ext cx="1026871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从开源项目到企业存量代码库（Fortune 500 级复杂度）均可落地 —— Built to scale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1.4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8961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5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 创新点与差异化优势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团队自动发现仓库 + 动态加入 —— 突破单会话 Coding Agent 的仓库固定局限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我们不是又一个单会话 Coding Agent，而是组织多个职能 Agent 的</a:t>
            </a:r>
            <a:pPr algn="ctr" indent="0" marL="0">
              <a:buNone/>
            </a:pPr>
            <a:r>
              <a:rPr lang="en-US" sz="13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「可观测交付控制平面」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3405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单会话工作区的局限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" y="31912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3191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61288" y="31546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上下文窗口易满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61288" y="34107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多仓库深入读取会更快填满窗口，只能拆会话、共享文档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95528" y="38130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61288" y="37764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分支无法跨仓库管理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1288" y="403250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只能人工跟踪各仓库所在分支，缺少统一视图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5528" y="4434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1288" y="43982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工作区不是 git 仓库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" y="465429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跨仓变更须逐仓提交、手动协调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9632" y="2606040"/>
            <a:ext cx="5394960" cy="2651760"/>
          </a:xfrm>
          <a:prstGeom prst="roundRect">
            <a:avLst>
              <a:gd name="adj" fmla="val 4828"/>
            </a:avLst>
          </a:prstGeom>
          <a:solidFill>
            <a:srgbClr val="E9EEFB"/>
          </a:solidFill>
          <a:ln w="15240">
            <a:solidFill>
              <a:srgbClr val="2A2F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73405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的核心能力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319125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191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31546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自动扫描出涉及仓库（核心！）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66560" y="341071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需求解析后，多 Agent 团队自动扫描仓库池，锁定真实涉及的仓库 —— Saleor 案例自动命中 4 仓库、跨 7 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381304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813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377647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动态加入仓库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766560" y="403250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执行中发现的新依赖仓库实时加入，无需重启会话，也无需人工协调跨仓提交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4434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43982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· 审计可追溯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66560" y="465429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交付物经独立验证，证据链全程可审计、可追溯、可回滚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" y="548640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1B1F3B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48640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单会话 Coding Agent：仓库会话期固定、跨仓靠拆会话　→　</a:t>
            </a:r>
            <a:pPr algn="ctr"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RepoMesh：自动扫描 + 动态加入，多仓库交付一次成型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1183112" y="6382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3931920"/>
            <a:ext cx="1645920" cy="1645920"/>
          </a:xfrm>
          <a:prstGeom prst="ellipse">
            <a:avLst/>
          </a:prstGeom>
          <a:solidFill>
            <a:srgbClr val="2A2F5B"/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4343400"/>
            <a:ext cx="1097280" cy="1097280"/>
          </a:xfrm>
          <a:prstGeom prst="ellipse">
            <a:avLst/>
          </a:prstGeom>
          <a:solidFill>
            <a:srgbClr val="2A2F5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场景与价值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4114800"/>
            <a:ext cx="10515600" cy="640080"/>
          </a:xfrm>
          <a:prstGeom prst="roundRect">
            <a:avLst>
              <a:gd name="adj" fmla="val 50000"/>
            </a:avLst>
          </a:prstGeom>
          <a:solidFill>
            <a:srgbClr val="2A2F5B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11480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把产品需求自动转化为 </a:t>
            </a:r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「经过独立验证 · 可观测 · 可审计 · 可回滚」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的交付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2092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A2F5B"/>
          </a:solidFill>
          <a:ln/>
        </p:spPr>
      </p:sp>
      <p:sp>
        <p:nvSpPr>
          <p:cNvPr id="11" name="Text 9"/>
          <p:cNvSpPr/>
          <p:nvPr/>
        </p:nvSpPr>
        <p:spPr>
          <a:xfrm>
            <a:off x="102092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目标用户与痛点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2696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A2F5B"/>
          </a:solidFill>
          <a:ln/>
        </p:spPr>
      </p:sp>
      <p:sp>
        <p:nvSpPr>
          <p:cNvPr id="13" name="Text 11"/>
          <p:cNvSpPr/>
          <p:nvPr/>
        </p:nvSpPr>
        <p:spPr>
          <a:xfrm>
            <a:off x="362696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A2F5B"/>
          </a:solidFill>
          <a:ln/>
        </p:spPr>
      </p:sp>
      <p:sp>
        <p:nvSpPr>
          <p:cNvPr id="15" name="Text 13"/>
          <p:cNvSpPr/>
          <p:nvPr/>
        </p:nvSpPr>
        <p:spPr>
          <a:xfrm>
            <a:off x="623300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行业可复制性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39048" y="5806440"/>
            <a:ext cx="2331720" cy="502920"/>
          </a:xfrm>
          <a:prstGeom prst="roundRect">
            <a:avLst>
              <a:gd name="adj" fmla="val 50000"/>
            </a:avLst>
          </a:prstGeom>
          <a:solidFill>
            <a:srgbClr val="2A2F5B"/>
          </a:solidFill>
          <a:ln/>
        </p:spPr>
      </p:sp>
      <p:sp>
        <p:nvSpPr>
          <p:cNvPr id="17" name="Text 15"/>
          <p:cNvSpPr/>
          <p:nvPr/>
        </p:nvSpPr>
        <p:spPr>
          <a:xfrm>
            <a:off x="8839048" y="58064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创新与差异化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640080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初赛方案 · 第一章（权重 25%）</a:t>
            </a:r>
            <a:endParaRPr lang="en-US" sz="1200" dirty="0"/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场景与价值 —— RepoMesh 多 Agent 可观测交付控制平面</dc:title>
  <dc:subject>GOAI 世界人工智能开源大赛 · 初赛方案</dc:subject>
  <dc:creator>GOAI 参赛团队</dc:creator>
  <cp:lastModifiedBy>GOAI 参赛团队</cp:lastModifiedBy>
  <cp:revision>1</cp:revision>
  <dcterms:created xsi:type="dcterms:W3CDTF">2026-08-16T08:44:00Z</dcterms:created>
  <dcterms:modified xsi:type="dcterms:W3CDTF">2026-08-16T08:44:00Z</dcterms:modified>
</cp:coreProperties>
</file>