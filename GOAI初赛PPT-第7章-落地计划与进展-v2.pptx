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274320"/>
            <a:ext cx="2011680" cy="2011680"/>
          </a:xfrm>
          <a:prstGeom prst="ellipse">
            <a:avLst/>
          </a:prstGeom>
          <a:solidFill>
            <a:srgbClr val="2A2F5B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109728"/>
            <a:ext cx="822960" cy="822960"/>
          </a:xfrm>
          <a:prstGeom prst="ellipse">
            <a:avLst/>
          </a:prstGeom>
          <a:solidFill>
            <a:srgbClr val="E9EEFB"/>
          </a:solidFill>
          <a:ln/>
        </p:spPr>
      </p:sp>
      <p:sp>
        <p:nvSpPr>
          <p:cNvPr id="4" name="Shape 2"/>
          <p:cNvSpPr/>
          <p:nvPr/>
        </p:nvSpPr>
        <p:spPr>
          <a:xfrm>
            <a:off x="10927080" y="6172200"/>
            <a:ext cx="594360" cy="594360"/>
          </a:xfrm>
          <a:prstGeom prst="ellipse">
            <a:avLst/>
          </a:prstGeom>
          <a:solidFill>
            <a:srgbClr val="E9EEFB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868680"/>
            <a:ext cx="731520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8229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GOAI 世界人工智能开源大赛 · Agent Infra 新智基座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261872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 落地计划与进展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1792" y="2029968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RepoMesh —— 多 Agent 可观测交付控制平面 · 对应当前进展与整体可行性（权重 20%）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2487168"/>
            <a:ext cx="1100023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编码交付从「单 Agent 单仓库」</a:t>
            </a:r>
            <a:pPr algn="l" indent="0" marL="0">
              <a:buNone/>
            </a:pPr>
            <a:r>
              <a:rPr lang="en-US" sz="155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，走向</a:t>
            </a:r>
            <a:pPr algn="l" indent="0" marL="0">
              <a:buNone/>
            </a:pPr>
            <a:r>
              <a:rPr lang="en-US" sz="15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可协作、可治理、可复用</a:t>
            </a:r>
            <a:pPr algn="l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 Agent Infra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94360" y="2971800"/>
            <a:ext cx="539496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" y="30998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" y="3099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06424" y="3081528"/>
            <a:ext cx="473659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组织化交付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06424" y="3447288"/>
            <a:ext cx="4700016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AgentTeams 为协同基点，组织职能 Agent，需求自动拆解为跨仓库「团队作战」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99632" y="2971800"/>
            <a:ext cx="539496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7648" y="30998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6327648" y="3099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11696" y="3081528"/>
            <a:ext cx="473659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全流程闭环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11696" y="3447288"/>
            <a:ext cx="4700016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仓库发现 → 计划编排 → 多 Agent 执行 → 独立验证 → 人工审批 → 可回滚发布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4416552"/>
            <a:ext cx="539496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" y="4544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" y="45445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06424" y="4526280"/>
            <a:ext cx="473659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契约与证据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6424" y="4892040"/>
            <a:ext cx="4700016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Delivery Contract 机器可检查；Release Evidence Pack 交付即留痕、十项齐全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99632" y="4416552"/>
            <a:ext cx="539496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27648" y="4544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6327648" y="45445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11696" y="4526280"/>
            <a:ext cx="473659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可观测可审计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11696" y="4892040"/>
            <a:ext cx="4700016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 全链路追踪；授权绑定不可变快照；整 ChangeSet 三阶段可回滚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" y="5989320"/>
            <a:ext cx="11000232" cy="502920"/>
          </a:xfrm>
          <a:prstGeom prst="roundRect">
            <a:avLst>
              <a:gd name="adj" fmla="val 49091"/>
            </a:avLst>
          </a:prstGeom>
          <a:solidFill>
            <a:srgbClr val="FF6B35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5989320"/>
            <a:ext cx="1026871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V0.2 初赛可演示</a:t>
            </a:r>
            <a:pPr algn="ctr" indent="0" marL="0">
              <a:buNone/>
            </a:pPr>
            <a:r>
              <a:rPr lang="en-US" sz="1350" b="1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V0.5 复赛可验证</a:t>
            </a:r>
            <a:pPr algn="ctr" indent="0" marL="0">
              <a:buNone/>
            </a:pPr>
            <a:r>
              <a:rPr lang="en-US" sz="1350" b="1" dirty="0">
                <a:solidFill>
                  <a:srgbClr val="AEB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 开放可复用</a:t>
            </a:r>
            <a:endParaRPr lang="en-US" sz="135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· 7.2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V0.2 · 初赛已交付 · 可演示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六周从 0 到全流程 GUI 闭环实证 —— 里程碑有据可查（独立验收报告）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206654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874520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下旬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04088" y="2130552"/>
            <a:ext cx="184708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选题与产品定义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" y="2496312"/>
            <a:ext cx="1847088" cy="10973"/>
          </a:xfrm>
          <a:prstGeom prst="rect">
            <a:avLst/>
          </a:prstGeom>
          <a:solidFill>
            <a:srgbClr val="FFD9C4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569464"/>
            <a:ext cx="1847088" cy="813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AgentTeams 集成调研 + Saleor 验证方案；product-brief 定稿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60904" y="233172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07208" y="1783080"/>
            <a:ext cx="206654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16936" y="1874520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上旬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16936" y="2130552"/>
            <a:ext cx="184708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八批次施工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16936" y="2496312"/>
            <a:ext cx="1847088" cy="10973"/>
          </a:xfrm>
          <a:prstGeom prst="rect">
            <a:avLst/>
          </a:prstGeom>
          <a:solidFill>
            <a:srgbClr val="FFD9C4"/>
          </a:solidFill>
          <a:ln/>
        </p:spPr>
      </p:sp>
      <p:sp>
        <p:nvSpPr>
          <p:cNvPr id="17" name="Text 15"/>
          <p:cNvSpPr/>
          <p:nvPr/>
        </p:nvSpPr>
        <p:spPr>
          <a:xfrm>
            <a:off x="2916936" y="2569464"/>
            <a:ext cx="1847088" cy="813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发现链/计划 DAG/回滚/一键启动逐批验收；基线 9290061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73752" y="233172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0056" y="1783080"/>
            <a:ext cx="206654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9784" y="1874520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08-11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129784" y="2130552"/>
            <a:ext cx="184708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终验 8/8 全过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29784" y="2496312"/>
            <a:ext cx="1847088" cy="10973"/>
          </a:xfrm>
          <a:prstGeom prst="rect">
            <a:avLst/>
          </a:prstGeom>
          <a:solidFill>
            <a:srgbClr val="FFD9C4"/>
          </a:solidFill>
          <a:ln/>
        </p:spPr>
      </p:sp>
      <p:sp>
        <p:nvSpPr>
          <p:cNvPr id="23" name="Text 21"/>
          <p:cNvSpPr/>
          <p:nvPr/>
        </p:nvSpPr>
        <p:spPr>
          <a:xfrm>
            <a:off x="5129784" y="2569464"/>
            <a:ext cx="1847088" cy="813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console-v2 验收：A 类功能缺陷 0（基线 8cb9b5c）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086600" y="233172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32904" y="1783080"/>
            <a:ext cx="206654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42632" y="1874520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08-12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42632" y="2130552"/>
            <a:ext cx="184708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全流程闭环实机验收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42632" y="2496312"/>
            <a:ext cx="1847088" cy="10973"/>
          </a:xfrm>
          <a:prstGeom prst="rect">
            <a:avLst/>
          </a:prstGeom>
          <a:solidFill>
            <a:srgbClr val="FFD9C4"/>
          </a:solidFill>
          <a:ln/>
        </p:spPr>
      </p:sp>
      <p:sp>
        <p:nvSpPr>
          <p:cNvPr id="29" name="Text 27"/>
          <p:cNvSpPr/>
          <p:nvPr/>
        </p:nvSpPr>
        <p:spPr>
          <a:xfrm>
            <a:off x="7342632" y="2569464"/>
            <a:ext cx="1847088" cy="813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需求→合并→可回滚全程 GUI 主链达成；19 次修复/9 死角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299448" y="233172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445752" y="1783080"/>
            <a:ext cx="206654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55480" y="1874520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08-14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555480" y="2130552"/>
            <a:ext cx="184708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可观测方案定稿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555480" y="2496312"/>
            <a:ext cx="1847088" cy="10973"/>
          </a:xfrm>
          <a:prstGeom prst="rect">
            <a:avLst/>
          </a:prstGeom>
          <a:solidFill>
            <a:srgbClr val="FFD9C4"/>
          </a:solidFill>
          <a:ln/>
        </p:spPr>
      </p:sp>
      <p:sp>
        <p:nvSpPr>
          <p:cNvPr id="35" name="Text 33"/>
          <p:cNvSpPr/>
          <p:nvPr/>
        </p:nvSpPr>
        <p:spPr>
          <a:xfrm>
            <a:off x="9555480" y="2569464"/>
            <a:ext cx="1847088" cy="813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埋点约 70% 已写好、0% 导出，缺口定位到文件/函数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94360" y="36393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V0.2 已交付能力（独立验收实证）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594360" y="3931920"/>
            <a:ext cx="5394960" cy="731520"/>
          </a:xfrm>
          <a:prstGeom prst="roundRect">
            <a:avLst>
              <a:gd name="adj" fmla="val 12500"/>
            </a:avLst>
          </a:prstGeom>
          <a:solidFill>
            <a:srgbClr val="E9EEFB"/>
          </a:solidFill>
          <a:ln/>
        </p:spPr>
      </p:sp>
      <p:sp>
        <p:nvSpPr>
          <p:cNvPr id="38" name="Shape 36"/>
          <p:cNvSpPr/>
          <p:nvPr/>
        </p:nvSpPr>
        <p:spPr>
          <a:xfrm>
            <a:off x="722376" y="4059936"/>
            <a:ext cx="118872" cy="1188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9" name="Text 37"/>
          <p:cNvSpPr/>
          <p:nvPr/>
        </p:nvSpPr>
        <p:spPr>
          <a:xfrm>
            <a:off x="923544" y="400507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 GUI 闭环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23544" y="4261104"/>
            <a:ext cx="491947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 → 计划 → 执行 → 验证 → 审批 → 合并 → 回滚，全程 GUI、无一步命令行写入（08-12 实证）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99632" y="3931920"/>
            <a:ext cx="5394960" cy="731520"/>
          </a:xfrm>
          <a:prstGeom prst="roundRect">
            <a:avLst>
              <a:gd name="adj" fmla="val 12500"/>
            </a:avLst>
          </a:prstGeom>
          <a:solidFill>
            <a:srgbClr val="E9EEFB"/>
          </a:solidFill>
          <a:ln/>
        </p:spPr>
      </p:sp>
      <p:sp>
        <p:nvSpPr>
          <p:cNvPr id="42" name="Shape 40"/>
          <p:cNvSpPr/>
          <p:nvPr/>
        </p:nvSpPr>
        <p:spPr>
          <a:xfrm>
            <a:off x="6327648" y="4059936"/>
            <a:ext cx="118872" cy="1188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3" name="Text 41"/>
          <p:cNvSpPr/>
          <p:nvPr/>
        </p:nvSpPr>
        <p:spPr>
          <a:xfrm>
            <a:off x="6528816" y="400507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真实编码交付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528816" y="4261104"/>
            <a:ext cx="491947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 LLM 需求分析充分度 0.90；编码 Agent 真写代码、测试真跑 exit 0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94360" y="4745736"/>
            <a:ext cx="5394960" cy="731520"/>
          </a:xfrm>
          <a:prstGeom prst="roundRect">
            <a:avLst>
              <a:gd name="adj" fmla="val 12500"/>
            </a:avLst>
          </a:prstGeom>
          <a:solidFill>
            <a:srgbClr val="E9EEFB"/>
          </a:solidFill>
          <a:ln/>
        </p:spPr>
      </p:sp>
      <p:sp>
        <p:nvSpPr>
          <p:cNvPr id="46" name="Shape 44"/>
          <p:cNvSpPr/>
          <p:nvPr/>
        </p:nvSpPr>
        <p:spPr>
          <a:xfrm>
            <a:off x="722376" y="4873752"/>
            <a:ext cx="118872" cy="1188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7" name="Text 45"/>
          <p:cNvSpPr/>
          <p:nvPr/>
        </p:nvSpPr>
        <p:spPr>
          <a:xfrm>
            <a:off x="923544" y="4818888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跨仓库编排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23544" y="5074920"/>
            <a:ext cx="491947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Saleor 场景真实涉及 4 仓库：PR #19466 / #6732 / #2393 / #1809 计划 DAG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199632" y="4745736"/>
            <a:ext cx="5394960" cy="731520"/>
          </a:xfrm>
          <a:prstGeom prst="roundRect">
            <a:avLst>
              <a:gd name="adj" fmla="val 12500"/>
            </a:avLst>
          </a:prstGeom>
          <a:solidFill>
            <a:srgbClr val="E9EEFB"/>
          </a:solidFill>
          <a:ln/>
        </p:spPr>
      </p:sp>
      <p:sp>
        <p:nvSpPr>
          <p:cNvPr id="50" name="Shape 48"/>
          <p:cNvSpPr/>
          <p:nvPr/>
        </p:nvSpPr>
        <p:spPr>
          <a:xfrm>
            <a:off x="6327648" y="4873752"/>
            <a:ext cx="118872" cy="1188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1" name="Text 49"/>
          <p:cNvSpPr/>
          <p:nvPr/>
        </p:nvSpPr>
        <p:spPr>
          <a:xfrm>
            <a:off x="6528816" y="4818888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审批与授权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528816" y="5074920"/>
            <a:ext cx="491947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HEAD-BOUND SHA + 不可变快照：任一变化授权立即失效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94360" y="5559552"/>
            <a:ext cx="5394960" cy="731520"/>
          </a:xfrm>
          <a:prstGeom prst="roundRect">
            <a:avLst>
              <a:gd name="adj" fmla="val 12500"/>
            </a:avLst>
          </a:prstGeom>
          <a:solidFill>
            <a:srgbClr val="E9EEFB"/>
          </a:solidFill>
          <a:ln/>
        </p:spPr>
      </p:sp>
      <p:sp>
        <p:nvSpPr>
          <p:cNvPr id="54" name="Shape 52"/>
          <p:cNvSpPr/>
          <p:nvPr/>
        </p:nvSpPr>
        <p:spPr>
          <a:xfrm>
            <a:off x="722376" y="5687568"/>
            <a:ext cx="118872" cy="1188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5" name="Text 53"/>
          <p:cNvSpPr/>
          <p:nvPr/>
        </p:nvSpPr>
        <p:spPr>
          <a:xfrm>
            <a:off x="923544" y="5632704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 ChangeSet 回滚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923544" y="5888736"/>
            <a:ext cx="491947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saga 逆序 revert PR #4 实测；回滚也必过自身 CI 与门禁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199632" y="5559552"/>
            <a:ext cx="5394960" cy="731520"/>
          </a:xfrm>
          <a:prstGeom prst="roundRect">
            <a:avLst>
              <a:gd name="adj" fmla="val 12500"/>
            </a:avLst>
          </a:prstGeom>
          <a:solidFill>
            <a:srgbClr val="E9EEFB"/>
          </a:solidFill>
          <a:ln/>
        </p:spPr>
      </p:sp>
      <p:sp>
        <p:nvSpPr>
          <p:cNvPr id="58" name="Shape 56"/>
          <p:cNvSpPr/>
          <p:nvPr/>
        </p:nvSpPr>
        <p:spPr>
          <a:xfrm>
            <a:off x="6327648" y="5687568"/>
            <a:ext cx="118872" cy="11887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9" name="Text 57"/>
          <p:cNvSpPr/>
          <p:nvPr/>
        </p:nvSpPr>
        <p:spPr>
          <a:xfrm>
            <a:off x="6528816" y="5632704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质量下限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528816" y="5888736"/>
            <a:ext cx="4919472" cy="3108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拒绝「假绿」、断言加强为三币种、跨仓未决问题如实上报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6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· 7.3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V0.5 · 复赛可验证 · 真实接入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接入边界明确：本地 compose → 真实交付链；缺口已定位到文件与函数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628071" y="384048"/>
            <a:ext cx="969264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28071" y="384048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落地计划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53949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" y="191109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19110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06424" y="1892808"/>
            <a:ext cx="473659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Git 托管 + CI/CD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06424" y="2258568"/>
            <a:ext cx="4700016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对接企业 Git 与流水线：真实 CI 结果驱动审批与门禁联动，不再依赖本地环境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99632" y="1783080"/>
            <a:ext cx="53949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191109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6327648" y="19110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711696" y="1892808"/>
            <a:ext cx="473659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真实部署目标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11696" y="2258568"/>
            <a:ext cx="4700016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 / 云主机预发与发布，交付闭环从「合并」延伸到「上线」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" y="3118104"/>
            <a:ext cx="53949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32461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" y="3246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06424" y="3227832"/>
            <a:ext cx="473659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可观测真数据流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06424" y="3593592"/>
            <a:ext cx="4700016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Higress OTel 插件 1 点覆盖 8 个 Agent 容器；埋点 70% 就绪 → 导出 → 前端 4 板块看板（trace / usage / logs / alerts）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99632" y="3118104"/>
            <a:ext cx="539496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5240">
            <a:solidFill>
              <a:srgbClr val="AEB6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27648" y="32461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6327648" y="3246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11696" y="3227832"/>
            <a:ext cx="4736592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评估集回放 + 执行白名单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11696" y="3593592"/>
            <a:ext cx="4700016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Saleor 五仓库历史任务回放；TrainTicket 15 用例离线评分；可自动执行的命令 / 工具白名单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" y="43708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可观测落地 5 步（总工期约 6 天，方案已定稿）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4360" y="4645152"/>
            <a:ext cx="206654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645152"/>
            <a:ext cx="128930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OTLP 通路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947672" y="4645152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半天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60904" y="4645152"/>
            <a:ext cx="14630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807208" y="4645152"/>
            <a:ext cx="206654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98648" y="4645152"/>
            <a:ext cx="128930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Higress 插件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60520" y="4645152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天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73752" y="4645152"/>
            <a:ext cx="14630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0056" y="4645152"/>
            <a:ext cx="206654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11496" y="4645152"/>
            <a:ext cx="128930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span+Log+告警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73368" y="4645152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天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86600" y="4645152"/>
            <a:ext cx="14630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232904" y="4645152"/>
            <a:ext cx="206654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24344" y="4645152"/>
            <a:ext cx="128930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落库+API+看板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586216" y="4645152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天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299448" y="4645152"/>
            <a:ext cx="14630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1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445752" y="4645152"/>
            <a:ext cx="206654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AEB6D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37192" y="4645152"/>
            <a:ext cx="1289304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trace↔评分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799064" y="4645152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天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94360" y="5440680"/>
            <a:ext cx="11000232" cy="731520"/>
          </a:xfrm>
          <a:prstGeom prst="roundRect">
            <a:avLst>
              <a:gd name="adj" fmla="val 15000"/>
            </a:avLst>
          </a:prstGeom>
          <a:solidFill>
            <a:srgbClr val="FFEDE4"/>
          </a:solidFill>
          <a:ln w="15240">
            <a:solidFill>
              <a:srgbClr val="FFD9C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" y="5440680"/>
            <a:ext cx="1045159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 · 不包装为已完成：</a:t>
            </a:r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可观测埋点约 70% 已就绪、0% 导出 —— 本章按「已定稿、待落地」呈现；复赛目标：真实 trace 数据流 + 在线看板 + 告警实证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50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 · 7.4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 · 开放可复用 · 规模化与生态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让交付控制能力沉淀为可复用开源资产，规模化验证真实需求（复赛推进）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00055" y="384048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FEDE4"/>
          </a:solidFill>
          <a:ln w="12700">
            <a:solidFill>
              <a:srgbClr val="FFD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00055" y="38404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整体可行性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5394960" cy="3657600"/>
          </a:xfrm>
          <a:prstGeom prst="roundRect">
            <a:avLst>
              <a:gd name="adj" fmla="val 3000"/>
            </a:avLst>
          </a:prstGeom>
          <a:solidFill>
            <a:srgbClr val="E9EEFB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" y="1911096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996696" y="18562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开放计划 · 可复用资产（仓库内已具备）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2286000"/>
            <a:ext cx="4983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/ Skill 模板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23544" y="2542032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个可复用 Skills：需求澄清 → 规划 → 执行 → 验证 → 治理全链条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58952" y="3090672"/>
            <a:ext cx="4983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适配器样例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23544" y="3346704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执行器可替换 + 离线 mock 适配器：无供应商也能测编排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58952" y="3895344"/>
            <a:ext cx="4983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评估数据集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23544" y="4151376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TrainTicket 15 用例多轮预测 + Saleor 五仓库回放集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58952" y="4700016"/>
            <a:ext cx="4983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部署与演示脚本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23544" y="4956048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dev-up 一键启动 / compose 全栈 / 方案流程演示页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99632" y="1783080"/>
            <a:ext cx="5394960" cy="3657600"/>
          </a:xfrm>
          <a:prstGeom prst="roundRect">
            <a:avLst>
              <a:gd name="adj" fmla="val 3000"/>
            </a:avLst>
          </a:prstGeom>
          <a:solidFill>
            <a:srgbClr val="E9EEFB"/>
          </a:solidFill>
          <a:ln/>
        </p:spPr>
      </p:sp>
      <p:sp>
        <p:nvSpPr>
          <p:cNvPr id="19" name="Shape 17"/>
          <p:cNvSpPr/>
          <p:nvPr/>
        </p:nvSpPr>
        <p:spPr>
          <a:xfrm>
            <a:off x="6364224" y="1911096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6601968" y="18562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风险控制 · 关键四类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64224" y="2286000"/>
            <a:ext cx="4983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 LLM 不可用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28816" y="2542032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502 / 503 → 分钟级告警 + 23 个 CLI 适配器可替换 provider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364224" y="3090672"/>
            <a:ext cx="4983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任务无推进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28816" y="3346704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收敛巡检（9 个死角已填平）+ last-touch 卡死告警 + 重派工入口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64224" y="3895344"/>
            <a:ext cx="4983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假绿 / 自测自证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28816" y="4151376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独立验证 Runner 代跑 + 无证据硬性拒收 + testResults 溯源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64224" y="4700016"/>
            <a:ext cx="49834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观测后端安全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28816" y="4956048"/>
            <a:ext cx="4818888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监听 0.0.0.0 隔离 + intercept.js 密钥脱敏 + 脚本来源审阅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4360" y="5669280"/>
            <a:ext cx="11000232" cy="502920"/>
          </a:xfrm>
          <a:prstGeom prst="roundRect">
            <a:avLst>
              <a:gd name="adj" fmla="val 49091"/>
            </a:avLst>
          </a:prstGeom>
          <a:solidFill>
            <a:srgbClr val="FF6B35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5669280"/>
            <a:ext cx="1026871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整体可行性结论：进展扎实 · 计划清晰 · 风险可控 —— </a:t>
            </a:r>
            <a:pPr algn="ctr" indent="0" marL="0">
              <a:buNone/>
            </a:pPr>
            <a:r>
              <a:rPr lang="en-US" sz="1350" b="1" dirty="0">
                <a:solidFill>
                  <a:srgbClr val="FFED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已具备规模化验证与参赛交付条件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5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Generated by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RepoMesh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第七章 落地计划与进展 —— RepoMesh 多 Agent 可观测交付控制平面（v2 例图式 4 页）</dc:title>
  <dc:subject>GOAI 世界人工智能开源大赛 · 初赛方案</dc:subject>
  <dc:creator>GOAI 参赛团队</dc:creator>
  <cp:lastModifiedBy>GOAI 参赛团队</cp:lastModifiedBy>
  <cp:revision>1</cp:revision>
  <dcterms:created xsi:type="dcterms:W3CDTF">2026-08-16T10:40:21Z</dcterms:created>
  <dcterms:modified xsi:type="dcterms:W3CDTF">2026-08-16T10:40:21Z</dcterms:modified>
</cp:coreProperties>
</file>