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137160"/>
            <a:ext cx="2103120" cy="2103120"/>
          </a:xfrm>
          <a:prstGeom prst="ellipse">
            <a:avLst/>
          </a:prstGeom>
          <a:solidFill>
            <a:srgbClr val="E9EEFB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1051560"/>
            <a:ext cx="1188720" cy="1188720"/>
          </a:xfrm>
          <a:prstGeom prst="ellipse">
            <a:avLst/>
          </a:prstGeom>
          <a:solidFill>
            <a:srgbClr val="FFEDE4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" y="1572768"/>
            <a:ext cx="164592" cy="16459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3"/>
          <p:cNvSpPr/>
          <p:nvPr/>
        </p:nvSpPr>
        <p:spPr>
          <a:xfrm>
            <a:off x="969264" y="1463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spc="100" kern="0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GOAI 世界人工智能开源大赛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" y="196596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800" b="1" spc="100" kern="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 场景与价值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9AA1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RepoMesh —— 多 Agent 可观测交付控制平面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731520" y="3931920"/>
            <a:ext cx="10515600" cy="713232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 w="15240">
            <a:solidFill>
              <a:srgbClr val="FFD9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931920"/>
            <a:ext cx="1014984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把产品需求自动转化为 </a:t>
            </a:r>
            <a:pPr algn="ctr"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「经过独立验证 · 可观测 · 可审计 · 可回滚」</a:t>
            </a:r>
            <a:pPr algn="ctr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的交付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52120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GOAI 世界人工智能开源大赛 · Agent Infra 新智基座 · 初赛方案 · 第一章（权重 25%）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20928" y="5806440"/>
            <a:ext cx="2331720" cy="502920"/>
          </a:xfrm>
          <a:prstGeom prst="roundRect">
            <a:avLst>
              <a:gd name="adj" fmla="val 50000"/>
            </a:avLst>
          </a:prstGeom>
          <a:solidFill>
            <a:srgbClr val="E9EEFB"/>
          </a:solidFill>
          <a:ln/>
        </p:spPr>
      </p:sp>
      <p:sp>
        <p:nvSpPr>
          <p:cNvPr id="12" name="Text 10"/>
          <p:cNvSpPr/>
          <p:nvPr/>
        </p:nvSpPr>
        <p:spPr>
          <a:xfrm>
            <a:off x="1020928" y="58064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目标用户与痛点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26968" y="5806440"/>
            <a:ext cx="2331720" cy="502920"/>
          </a:xfrm>
          <a:prstGeom prst="roundRect">
            <a:avLst>
              <a:gd name="adj" fmla="val 50000"/>
            </a:avLst>
          </a:prstGeom>
          <a:solidFill>
            <a:srgbClr val="E9EEFB"/>
          </a:solidFill>
          <a:ln/>
        </p:spPr>
      </p:sp>
      <p:sp>
        <p:nvSpPr>
          <p:cNvPr id="14" name="Text 12"/>
          <p:cNvSpPr/>
          <p:nvPr/>
        </p:nvSpPr>
        <p:spPr>
          <a:xfrm>
            <a:off x="3626968" y="58064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真实场景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33008" y="5806440"/>
            <a:ext cx="2331720" cy="502920"/>
          </a:xfrm>
          <a:prstGeom prst="roundRect">
            <a:avLst>
              <a:gd name="adj" fmla="val 50000"/>
            </a:avLst>
          </a:prstGeom>
          <a:solidFill>
            <a:srgbClr val="E9EEFB"/>
          </a:solidFill>
          <a:ln/>
        </p:spPr>
      </p:sp>
      <p:sp>
        <p:nvSpPr>
          <p:cNvPr id="16" name="Text 14"/>
          <p:cNvSpPr/>
          <p:nvPr/>
        </p:nvSpPr>
        <p:spPr>
          <a:xfrm>
            <a:off x="6233008" y="58064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行业可复制性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839048" y="5806440"/>
            <a:ext cx="2331720" cy="502920"/>
          </a:xfrm>
          <a:prstGeom prst="roundRect">
            <a:avLst>
              <a:gd name="adj" fmla="val 50000"/>
            </a:avLst>
          </a:prstGeom>
          <a:solidFill>
            <a:srgbClr val="E9EEFB"/>
          </a:solidFill>
          <a:ln/>
        </p:spPr>
      </p:sp>
      <p:sp>
        <p:nvSpPr>
          <p:cNvPr id="18" name="Text 16"/>
          <p:cNvSpPr/>
          <p:nvPr/>
        </p:nvSpPr>
        <p:spPr>
          <a:xfrm>
            <a:off x="8839048" y="58064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创新与差异化</a:t>
            </a:r>
            <a:endParaRPr lang="en-US" sz="1200" dirty="0"/>
          </a:p>
        </p:txBody>
      </p:sp>
      <p:sp>
        <p:nvSpPr>
          <p:cNvPr id="1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182880"/>
            <a:ext cx="1188720" cy="1188720"/>
          </a:xfrm>
          <a:prstGeom prst="ellipse">
            <a:avLst/>
          </a:prstGeom>
          <a:solidFill>
            <a:srgbClr val="E9EEFB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8686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spc="100" kern="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920240"/>
            <a:ext cx="539496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E9EE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2128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12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204825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目标用户与核心痛点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63040" y="2450592"/>
            <a:ext cx="43434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行业数据 + 跨仓库交付的真实瓶颈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55080" y="1920240"/>
            <a:ext cx="539496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E9EEF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29400" y="22128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2212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23760" y="204825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真实场景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223760" y="2450592"/>
            <a:ext cx="43434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PRD 到「发布 + 回滚」的完整链路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3200400"/>
            <a:ext cx="539496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E9EEF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349300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4930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332841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行业可复制性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463040" y="3730752"/>
            <a:ext cx="43434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开源对象 + 离线评估集，无需企业私码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55080" y="3200400"/>
            <a:ext cx="539496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E9EEF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29400" y="349300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F6B35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34930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23760" y="332841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创新点与差异化优势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223760" y="3730752"/>
            <a:ext cx="43434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自动扫描仓库 + 动态加入，突破会话固定仓库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" y="4937760"/>
            <a:ext cx="11000232" cy="548640"/>
          </a:xfrm>
          <a:prstGeom prst="roundRect">
            <a:avLst>
              <a:gd name="adj" fmla="val 50000"/>
            </a:avLst>
          </a:prstGeom>
          <a:solidFill>
            <a:srgbClr val="E9EEFB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4937760"/>
            <a:ext cx="10451592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本部分：场景与价值 —— 对应评分维度「</a:t>
            </a:r>
            <a:pPr algn="ct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场景价值与行业可复制性</a:t>
            </a:r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」，权重 25%</a:t>
            </a:r>
            <a:endParaRPr lang="en-US" sz="1300" dirty="0"/>
          </a:p>
        </p:txBody>
      </p:sp>
      <p:sp>
        <p:nvSpPr>
          <p:cNvPr id="26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42632" y="365760"/>
            <a:ext cx="4480560" cy="786384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/>
        </p:spPr>
      </p:sp>
      <p:sp>
        <p:nvSpPr>
          <p:cNvPr id="3" name="Text 1"/>
          <p:cNvSpPr/>
          <p:nvPr/>
        </p:nvSpPr>
        <p:spPr>
          <a:xfrm>
            <a:off x="7543800" y="438912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对应评分维度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543800" y="676656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场景价值与行业可复制性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771632" y="530352"/>
            <a:ext cx="868680" cy="457200"/>
          </a:xfrm>
          <a:prstGeom prst="roundRect">
            <a:avLst>
              <a:gd name="adj" fmla="val 18000"/>
            </a:avLst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10771632" y="530352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25%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926080"/>
            <a:ext cx="685800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3200400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场景与价值</a:t>
            </a:r>
            <a:endParaRPr lang="en-US" sz="5400" dirty="0"/>
          </a:p>
        </p:txBody>
      </p:sp>
      <p:sp>
        <p:nvSpPr>
          <p:cNvPr id="9" name="Shape 7"/>
          <p:cNvSpPr/>
          <p:nvPr/>
        </p:nvSpPr>
        <p:spPr>
          <a:xfrm>
            <a:off x="640080" y="4343400"/>
            <a:ext cx="1737360" cy="10972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Text 8"/>
          <p:cNvSpPr/>
          <p:nvPr/>
        </p:nvSpPr>
        <p:spPr>
          <a:xfrm>
            <a:off x="11183112" y="638251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50" dirty="0"/>
          </a:p>
        </p:txBody>
      </p:sp>
      <p:sp>
        <p:nvSpPr>
          <p:cNvPr id="1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· 1.1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89611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spc="50" kern="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 目标用户与核心痛点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痛点来自行业数据，也来自跨仓库交付的真实瓶颈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244023" y="384048"/>
            <a:ext cx="1353312" cy="384048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 w="12700">
            <a:solidFill>
              <a:srgbClr val="FFD9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4023" y="384048"/>
            <a:ext cx="1353312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 · 有据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1956816"/>
            <a:ext cx="146304" cy="14630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Text 6"/>
          <p:cNvSpPr/>
          <p:nvPr/>
        </p:nvSpPr>
        <p:spPr>
          <a:xfrm>
            <a:off x="850392" y="192024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目标用户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" y="2331720"/>
            <a:ext cx="40233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5240">
            <a:solidFill>
              <a:srgbClr val="E9EEF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8952" y="2587752"/>
            <a:ext cx="310896" cy="3108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758952" y="25877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61288" y="2459736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研发与平台负责人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61288" y="2752344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需要把「Agent 提效」转化为可证明、可审计的交付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3337560"/>
            <a:ext cx="40233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5240">
            <a:solidFill>
              <a:srgbClr val="E9EEF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8952" y="3593592"/>
            <a:ext cx="310896" cy="3108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758952" y="35935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61288" y="3465576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企业存量代码库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61288" y="3758184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多仓库、跨技术栈，真实需求从来不止一个仓库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" y="4343400"/>
            <a:ext cx="40233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5240">
            <a:solidFill>
              <a:srgbClr val="E9EEF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8952" y="4599432"/>
            <a:ext cx="310896" cy="3108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1" name="Text 19"/>
          <p:cNvSpPr/>
          <p:nvPr/>
        </p:nvSpPr>
        <p:spPr>
          <a:xfrm>
            <a:off x="758952" y="45994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61288" y="4471416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开源社区与评估者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161288" y="4764024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需要无需企业私码即可复现的验证方法与证据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83480" y="1956816"/>
            <a:ext cx="146304" cy="14630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5" name="Text 23"/>
          <p:cNvSpPr/>
          <p:nvPr/>
        </p:nvSpPr>
        <p:spPr>
          <a:xfrm>
            <a:off x="5239512" y="192024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核心痛点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983480" y="2331720"/>
            <a:ext cx="65836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5240">
            <a:solidFill>
              <a:srgbClr val="E9EEF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83480" y="2423160"/>
            <a:ext cx="64008" cy="59436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</p:sp>
      <p:sp>
        <p:nvSpPr>
          <p:cNvPr id="28" name="Text 26"/>
          <p:cNvSpPr/>
          <p:nvPr/>
        </p:nvSpPr>
        <p:spPr>
          <a:xfrm>
            <a:off x="5212080" y="2404872"/>
            <a:ext cx="61264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发布不稳 · 无法观测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212080" y="271576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DORA 四指标：发布成功率、变更前置时间不可见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983480" y="3154680"/>
            <a:ext cx="65836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5240">
            <a:solidFill>
              <a:srgbClr val="E9EEF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83480" y="3246120"/>
            <a:ext cx="64008" cy="59436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</p:sp>
      <p:sp>
        <p:nvSpPr>
          <p:cNvPr id="32" name="Text 30"/>
          <p:cNvSpPr/>
          <p:nvPr/>
        </p:nvSpPr>
        <p:spPr>
          <a:xfrm>
            <a:off x="5212080" y="3227832"/>
            <a:ext cx="61264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信任缺失 · 自测自证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212080" y="353872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自己声明成功、自己跑测试，无独立验证方与可审计证据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983480" y="3977640"/>
            <a:ext cx="65836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5240">
            <a:solidFill>
              <a:srgbClr val="E9EEF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83480" y="4069080"/>
            <a:ext cx="64008" cy="59436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</p:sp>
      <p:sp>
        <p:nvSpPr>
          <p:cNvPr id="36" name="Text 34"/>
          <p:cNvSpPr/>
          <p:nvPr/>
        </p:nvSpPr>
        <p:spPr>
          <a:xfrm>
            <a:off x="5212080" y="4050792"/>
            <a:ext cx="61264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单仓库 · 短任务天花板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5212080" y="436168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单会话工作区 1 仓库 1 PR 59 分钟，真实需求跨多仓库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983480" y="4800600"/>
            <a:ext cx="658368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240">
            <a:solidFill>
              <a:srgbClr val="E9EEF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983480" y="4892040"/>
            <a:ext cx="64008" cy="64008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</p:sp>
      <p:sp>
        <p:nvSpPr>
          <p:cNvPr id="40" name="Text 38"/>
          <p:cNvSpPr/>
          <p:nvPr/>
        </p:nvSpPr>
        <p:spPr>
          <a:xfrm>
            <a:off x="5212080" y="4855464"/>
            <a:ext cx="612648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跨仓库交付的三大瓶颈（单会话工作区）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212080" y="5102352"/>
            <a:ext cx="6172200" cy="1554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上下文窗口：多仓库深入读取更快填满窗口，只能拆会话、共享文档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212080" y="5248656"/>
            <a:ext cx="6172200" cy="1554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分支管理：无法跨仓库管理分支，只能人工跟踪各仓库所在分支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212080" y="5394960"/>
            <a:ext cx="6172200" cy="1554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非单仓库：工作区不是 git 仓库，跨仓变更须逐仓提交、手动协调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94360" y="5760720"/>
            <a:ext cx="11000232" cy="45720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</p:sp>
      <p:sp>
        <p:nvSpPr>
          <p:cNvPr id="45" name="Text 43"/>
          <p:cNvSpPr/>
          <p:nvPr/>
        </p:nvSpPr>
        <p:spPr>
          <a:xfrm>
            <a:off x="960120" y="5760720"/>
            <a:ext cx="10268712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企业不缺代码生成工具，缺的是把「生成速度」转化为「稳定、可验证、可追溯」交付的控制体系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11183112" y="638251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50" dirty="0"/>
          </a:p>
        </p:txBody>
      </p:sp>
      <p:sp>
        <p:nvSpPr>
          <p:cNvPr id="47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· 1.2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89611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spc="50" kern="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 真实场景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PRD 到「发布 + 回滚」：一次跨仓库交付的完整链路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756087" y="384048"/>
            <a:ext cx="841248" cy="384048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 w="12700">
            <a:solidFill>
              <a:srgbClr val="FFD9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56087" y="384048"/>
            <a:ext cx="8412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已实测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2011680"/>
            <a:ext cx="1207008" cy="914400"/>
          </a:xfrm>
          <a:prstGeom prst="roundRect">
            <a:avLst>
              <a:gd name="adj" fmla="val 14000"/>
            </a:avLst>
          </a:prstGeom>
          <a:solidFill>
            <a:srgbClr val="E9EE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2066544"/>
            <a:ext cx="1097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PRD 输入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938528" y="2011680"/>
            <a:ext cx="1207008" cy="914400"/>
          </a:xfrm>
          <a:prstGeom prst="roundRect">
            <a:avLst>
              <a:gd name="adj" fmla="val 14000"/>
            </a:avLst>
          </a:prstGeom>
          <a:solidFill>
            <a:srgbClr val="E9EEFB"/>
          </a:solidFill>
          <a:ln/>
        </p:spPr>
      </p:sp>
      <p:sp>
        <p:nvSpPr>
          <p:cNvPr id="10" name="Text 8"/>
          <p:cNvSpPr/>
          <p:nvPr/>
        </p:nvSpPr>
        <p:spPr>
          <a:xfrm>
            <a:off x="1993392" y="2066544"/>
            <a:ext cx="1097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需求澄清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82696" y="2011680"/>
            <a:ext cx="1207008" cy="914400"/>
          </a:xfrm>
          <a:prstGeom prst="roundRect">
            <a:avLst>
              <a:gd name="adj" fmla="val 14000"/>
            </a:avLst>
          </a:prstGeom>
          <a:solidFill>
            <a:srgbClr val="E9EEFB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2066544"/>
            <a:ext cx="1097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仓库扫描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26864" y="2011680"/>
            <a:ext cx="1207008" cy="914400"/>
          </a:xfrm>
          <a:prstGeom prst="roundRect">
            <a:avLst>
              <a:gd name="adj" fmla="val 14000"/>
            </a:avLst>
          </a:prstGeom>
          <a:solidFill>
            <a:srgbClr val="E9EEFB"/>
          </a:solidFill>
          <a:ln/>
        </p:spPr>
      </p:sp>
      <p:sp>
        <p:nvSpPr>
          <p:cNvPr id="14" name="Text 12"/>
          <p:cNvSpPr/>
          <p:nvPr/>
        </p:nvSpPr>
        <p:spPr>
          <a:xfrm>
            <a:off x="4681728" y="2066544"/>
            <a:ext cx="1097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计划编排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71032" y="2011680"/>
            <a:ext cx="1207008" cy="914400"/>
          </a:xfrm>
          <a:prstGeom prst="roundRect">
            <a:avLst>
              <a:gd name="adj" fmla="val 14000"/>
            </a:avLst>
          </a:prstGeom>
          <a:solidFill>
            <a:srgbClr val="E9EEFB"/>
          </a:solidFill>
          <a:ln/>
        </p:spPr>
      </p:sp>
      <p:sp>
        <p:nvSpPr>
          <p:cNvPr id="16" name="Text 14"/>
          <p:cNvSpPr/>
          <p:nvPr/>
        </p:nvSpPr>
        <p:spPr>
          <a:xfrm>
            <a:off x="6025896" y="2066544"/>
            <a:ext cx="1097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多 Agent 执行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315200" y="2011680"/>
            <a:ext cx="1207008" cy="914400"/>
          </a:xfrm>
          <a:prstGeom prst="roundRect">
            <a:avLst>
              <a:gd name="adj" fmla="val 14000"/>
            </a:avLst>
          </a:prstGeom>
          <a:solidFill>
            <a:srgbClr val="E9EEFB"/>
          </a:solidFill>
          <a:ln/>
        </p:spPr>
      </p:sp>
      <p:sp>
        <p:nvSpPr>
          <p:cNvPr id="18" name="Text 16"/>
          <p:cNvSpPr/>
          <p:nvPr/>
        </p:nvSpPr>
        <p:spPr>
          <a:xfrm>
            <a:off x="7370064" y="2066544"/>
            <a:ext cx="1097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⑥ 独立验证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659368" y="2011680"/>
            <a:ext cx="1207008" cy="914400"/>
          </a:xfrm>
          <a:prstGeom prst="roundRect">
            <a:avLst>
              <a:gd name="adj" fmla="val 14000"/>
            </a:avLst>
          </a:prstGeom>
          <a:solidFill>
            <a:srgbClr val="E9EEFB"/>
          </a:solidFill>
          <a:ln/>
        </p:spPr>
      </p:sp>
      <p:sp>
        <p:nvSpPr>
          <p:cNvPr id="20" name="Text 18"/>
          <p:cNvSpPr/>
          <p:nvPr/>
        </p:nvSpPr>
        <p:spPr>
          <a:xfrm>
            <a:off x="8714232" y="2066544"/>
            <a:ext cx="1097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⑦ 审计追溯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0003536" y="2011680"/>
            <a:ext cx="1207008" cy="914400"/>
          </a:xfrm>
          <a:prstGeom prst="roundRect">
            <a:avLst>
              <a:gd name="adj" fmla="val 14000"/>
            </a:avLst>
          </a:prstGeom>
          <a:solidFill>
            <a:srgbClr val="FF6B35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0" y="2066544"/>
            <a:ext cx="1097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⑧ 发布 + 回滚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94360" y="3200400"/>
            <a:ext cx="539496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5240">
            <a:solidFill>
              <a:srgbClr val="E9EEF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336499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336499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自动命中 4 仓库 · 跨 7 层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77240" y="376732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开源真实场景 —— Saleor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77240" y="4096512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自动扫描出涉及仓库：core / platform / extensions / tests</a:t>
            </a:r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Agent 并行实现，跨仓库协同编排</a:t>
            </a:r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独立验证 + 审计证据回传，全程可追溯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99632" y="3200400"/>
            <a:ext cx="539496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5240">
            <a:solidFill>
              <a:srgbClr val="E9EEF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82512" y="3364992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E9EEFB"/>
          </a:solidFill>
          <a:ln/>
        </p:spPr>
      </p:sp>
      <p:sp>
        <p:nvSpPr>
          <p:cNvPr id="30" name="Text 28"/>
          <p:cNvSpPr/>
          <p:nvPr/>
        </p:nvSpPr>
        <p:spPr>
          <a:xfrm>
            <a:off x="6382512" y="3364992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全链路实测闭环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382512" y="376732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PRD 到「发布 + 回滚」一次成型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382512" y="4096512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 → 计划 → 执行 → 验证 → 发布 → 回滚，全链路可观测</a:t>
            </a:r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故障演练：发布异常后一键回滚，不留残留状态</a:t>
            </a:r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交付物 = Release Candidate：可验证、可审计、可追溯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94360" y="5440680"/>
            <a:ext cx="11000232" cy="502920"/>
          </a:xfrm>
          <a:prstGeom prst="roundRect">
            <a:avLst>
              <a:gd name="adj" fmla="val 50000"/>
            </a:avLst>
          </a:prstGeom>
          <a:solidFill>
            <a:srgbClr val="E9EEFB"/>
          </a:solidFill>
          <a:ln/>
        </p:spPr>
      </p:sp>
      <p:sp>
        <p:nvSpPr>
          <p:cNvPr id="34" name="Text 32"/>
          <p:cNvSpPr/>
          <p:nvPr/>
        </p:nvSpPr>
        <p:spPr>
          <a:xfrm>
            <a:off x="960120" y="5440680"/>
            <a:ext cx="10268712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一个需求 = 一个可验证的交付闭环：扫描仓库 → 自动编排 → 独立验证 → 审计可追溯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1183112" y="638251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50" dirty="0"/>
          </a:p>
        </p:txBody>
      </p:sp>
      <p:sp>
        <p:nvSpPr>
          <p:cNvPr id="36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· 1.3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89611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spc="50" kern="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  行业可复制性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开源验证对象 + 离线评估集 + 方法论迁移，无需企业私码即可复现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756087" y="384048"/>
            <a:ext cx="841248" cy="384048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 w="12700">
            <a:solidFill>
              <a:srgbClr val="FFD9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56087" y="384048"/>
            <a:ext cx="8412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可复制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2103120"/>
            <a:ext cx="5394960" cy="1298448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 w="15240">
            <a:solidFill>
              <a:srgbClr val="E9EEF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" y="22860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795528" y="2286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07592" y="228600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多仓库开源对象 · Saleor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95528" y="2670048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五仓库真实规模：自动扫描、跨仓编排、独立验证全链路已打通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99632" y="2103120"/>
            <a:ext cx="5394960" cy="1298448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 w="15240">
            <a:solidFill>
              <a:srgbClr val="E9EEF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22860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6B3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2286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912864" y="228600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微服务样本 · TrainTicket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0" y="2670048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层依赖图、25+ 服务：跨技术栈编排已验证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" y="3566160"/>
            <a:ext cx="5394960" cy="1298448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 w="15240">
            <a:solidFill>
              <a:srgbClr val="E9EEF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" y="37490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6B35"/>
          </a:solidFill>
          <a:ln/>
        </p:spPr>
      </p:sp>
      <p:sp>
        <p:nvSpPr>
          <p:cNvPr id="19" name="Text 17"/>
          <p:cNvSpPr/>
          <p:nvPr/>
        </p:nvSpPr>
        <p:spPr>
          <a:xfrm>
            <a:off x="795528" y="3749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07592" y="374904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方法论可迁移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95528" y="4133088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仓库池 + 依赖图 + 验证器 + 证据链，可复制到任意多仓代码库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99632" y="3566160"/>
            <a:ext cx="5394960" cy="1298448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 w="15240">
            <a:solidFill>
              <a:srgbClr val="E9EEF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0" y="37490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6B35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3749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12864" y="374904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场景可扩展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400800" y="4133088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 / 后端 / 数据 / 文档全栈交付，统一由同一控制平面编排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94360" y="5074920"/>
            <a:ext cx="11000232" cy="658368"/>
          </a:xfrm>
          <a:prstGeom prst="roundRect">
            <a:avLst>
              <a:gd name="adj" fmla="val 16667"/>
            </a:avLst>
          </a:prstGeom>
          <a:solidFill>
            <a:srgbClr val="E9EEFB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512064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可复制性从哪来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200400" y="5129784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无需企业私码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00400" y="540410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验证基于开源对象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035040" y="5129784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离线评估集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035040" y="540410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可复现 · 可比对 · 可审计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869680" y="5129784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方法即产品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869680" y="540410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仓库发现 / 依赖图 / 验证器随方案交付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94360" y="5897880"/>
            <a:ext cx="11000232" cy="411480"/>
          </a:xfrm>
          <a:prstGeom prst="roundRect">
            <a:avLst>
              <a:gd name="adj" fmla="val 50000"/>
            </a:avLst>
          </a:prstGeom>
          <a:solidFill>
            <a:srgbClr val="E9EEFB"/>
          </a:solidFill>
          <a:ln/>
        </p:spPr>
      </p:sp>
      <p:sp>
        <p:nvSpPr>
          <p:cNvPr id="36" name="Text 34"/>
          <p:cNvSpPr/>
          <p:nvPr/>
        </p:nvSpPr>
        <p:spPr>
          <a:xfrm>
            <a:off x="960120" y="5897880"/>
            <a:ext cx="10268712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从开源项目到企业存量代码库（Fortune 500 级复杂度）均可落地 —— Built to scale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1183112" y="638251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050" dirty="0"/>
          </a:p>
        </p:txBody>
      </p:sp>
      <p:sp>
        <p:nvSpPr>
          <p:cNvPr id="3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· 1.4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89611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spc="50" kern="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  创新点与差异化优势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Agent 团队自动发现仓库 + 动态加入 —— 突破单会话 Coding Agent 的仓库固定局限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628071" y="384048"/>
            <a:ext cx="969264" cy="384048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 w="12700">
            <a:solidFill>
              <a:srgbClr val="FFD9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28071" y="384048"/>
            <a:ext cx="969264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核心优势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1828800"/>
            <a:ext cx="11000232" cy="54864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828800"/>
            <a:ext cx="10451592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我们不是又一个单会话 Coding Agent，而是组织多个职能 Agent 的</a:t>
            </a:r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「可观测交付控制平面」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2606040"/>
            <a:ext cx="5394960" cy="2651760"/>
          </a:xfrm>
          <a:prstGeom prst="roundRect">
            <a:avLst>
              <a:gd name="adj" fmla="val 4828"/>
            </a:avLst>
          </a:prstGeom>
          <a:solidFill>
            <a:srgbClr val="FFEDE4"/>
          </a:solidFill>
          <a:ln w="15240">
            <a:solidFill>
              <a:srgbClr val="FFD9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734056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单会话工作区的局限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95528" y="3191256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" y="31912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61288" y="3154680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上下文窗口易满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161288" y="3410712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多仓库深入读取会更快填满窗口，只能拆会话、共享文档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95528" y="3813048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" y="38130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61288" y="3776472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分支无法跨仓库管理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161288" y="4032504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只能人工跟踪各仓库所在分支，缺少统一视图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95528" y="4434840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6B35"/>
          </a:solidFill>
          <a:ln/>
        </p:spPr>
      </p:sp>
      <p:sp>
        <p:nvSpPr>
          <p:cNvPr id="20" name="Text 18"/>
          <p:cNvSpPr/>
          <p:nvPr/>
        </p:nvSpPr>
        <p:spPr>
          <a:xfrm>
            <a:off x="795528" y="44348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61288" y="4398264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工作区不是 git 仓库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61288" y="4654296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跨仓变更须逐仓提交、手动协调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99632" y="2606040"/>
            <a:ext cx="5394960" cy="2651760"/>
          </a:xfrm>
          <a:prstGeom prst="roundRect">
            <a:avLst>
              <a:gd name="adj" fmla="val 4828"/>
            </a:avLst>
          </a:prstGeom>
          <a:solidFill>
            <a:srgbClr val="E9EEFB"/>
          </a:solidFill>
          <a:ln w="15240">
            <a:solidFill>
              <a:srgbClr val="9AA1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82512" y="2734056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RepoMesh 的核心能力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0" y="3191256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6B35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31912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66560" y="3154680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自动扫描出涉及仓库（核心！）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766560" y="3410712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需求解析后，多 Agent 团队自动扫描仓库池，锁定真实涉及的仓库 —— Saleor 案例自动命中 4 仓库、跨 7 层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400800" y="3813048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6B35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0" y="38130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766560" y="3776472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动态加入仓库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766560" y="4032504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执行中发现的新依赖仓库实时加入，无需重启会话，也无需人工协调跨仓提交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400800" y="4434840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6B35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0" y="44348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766560" y="4398264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独立验证 · 审计可追溯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766560" y="4654296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交付物经独立验证，证据链全程可审计、可追溯、可回滚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94360" y="5486400"/>
            <a:ext cx="11000232" cy="548640"/>
          </a:xfrm>
          <a:prstGeom prst="roundRect">
            <a:avLst>
              <a:gd name="adj" fmla="val 50000"/>
            </a:avLst>
          </a:prstGeom>
          <a:solidFill>
            <a:srgbClr val="E9EEFB"/>
          </a:solidFill>
          <a:ln/>
        </p:spPr>
      </p:sp>
      <p:sp>
        <p:nvSpPr>
          <p:cNvPr id="38" name="Text 36"/>
          <p:cNvSpPr/>
          <p:nvPr/>
        </p:nvSpPr>
        <p:spPr>
          <a:xfrm>
            <a:off x="868680" y="5486400"/>
            <a:ext cx="10451592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单会话 Coding Agent：仓库会话期固定、跨仓靠拆会话　→　</a:t>
            </a:r>
            <a:pPr algn="ctr" indent="0" marL="0">
              <a:buNone/>
            </a:pPr>
            <a:r>
              <a:rPr lang="en-US" sz="125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RepoMesh：自动扫描 + 动态加入，多仓库交付一次成型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11183112" y="638251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050" dirty="0"/>
          </a:p>
        </p:txBody>
      </p:sp>
      <p:sp>
        <p:nvSpPr>
          <p:cNvPr id="40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RepoMesh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场景与价值 —— RepoMesh 多 Agent 可观测交付控制平面</dc:title>
  <dc:subject>GOAI 世界人工智能开源大赛 · 初赛方案</dc:subject>
  <dc:creator>GOAI 参赛团队</dc:creator>
  <cp:lastModifiedBy>GOAI 参赛团队</cp:lastModifiedBy>
  <cp:revision>1</cp:revision>
  <dcterms:created xsi:type="dcterms:W3CDTF">2026-08-16T08:53:27Z</dcterms:created>
  <dcterms:modified xsi:type="dcterms:W3CDTF">2026-08-16T08:53:27Z</dcterms:modified>
</cp:coreProperties>
</file>