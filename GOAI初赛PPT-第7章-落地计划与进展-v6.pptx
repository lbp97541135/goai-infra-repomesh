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0233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182880"/>
            <a:ext cx="1463040" cy="146304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6199632"/>
            <a:ext cx="566928" cy="566928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落地计划与进展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71255" y="365760"/>
            <a:ext cx="2926080" cy="402336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71255" y="36576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评分维度：当前进展与整体可行性 · 20%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7132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落地计划与进展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1389888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—— 多 Agent 可观测交付控制平面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1773936"/>
            <a:ext cx="11000232" cy="530352"/>
          </a:xfrm>
          <a:prstGeom prst="roundRect">
            <a:avLst>
              <a:gd name="adj" fmla="val 20690"/>
            </a:avLst>
          </a:prstGeom>
          <a:solidFill>
            <a:srgbClr val="E9EE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73936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编码交付从「单 Agent 单仓库」</a:t>
            </a:r>
            <a:r>
              <a:rPr lang="en-US" sz="17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，走向 </a:t>
            </a:r>
            <a:r>
              <a:rPr lang="en-US" sz="17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可协作、可治理、可复用</a:t>
            </a: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 Agent Infra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2432304"/>
            <a:ext cx="53949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blurRad="88900" dist="25400" dir="2700000" algn="bl" rotWithShape="0">
              <a:srgbClr val="C7CDDE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63347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334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2596896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面向真实交付场景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054096"/>
            <a:ext cx="4553712" cy="6949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企业级跨仓库、跨团队的 AI 编码交付组织与调度，贴合真实研发流程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9632" y="2432304"/>
            <a:ext cx="53949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blurRad="50800" dist="25400" dir="16200000" algn="bl" rotWithShape="0">
              <a:srgbClr val="C7CDDE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82512" y="263347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6334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39712" y="2596896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闭环协作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39712" y="3054096"/>
            <a:ext cx="4553712" cy="6949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 → 执行 → 验证 → 审批 → 发布 → 回滚，端到端交付闭环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" y="4059936"/>
            <a:ext cx="53949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blurRad="50800" dist="25400" dir="16200000" algn="bl" rotWithShape="0">
              <a:srgbClr val="C7CDDE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426110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2611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4224528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工程化资产沉淀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34440" y="4681728"/>
            <a:ext cx="4553712" cy="6949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交付契约、证据留痕、评估数据与可复用模板，形成持续资产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99632" y="4059936"/>
            <a:ext cx="53949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blurRad="50800" dist="25400" dir="16200000" algn="bl" rotWithShape="0">
              <a:srgbClr val="C7CDDE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82512" y="426110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6382512" y="42611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39712" y="4224528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可观测可审计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39712" y="4681728"/>
            <a:ext cx="4553712" cy="6949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全链路观测、授权快照、一键回滚，过程透明且可追溯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94360" y="5596128"/>
            <a:ext cx="3529584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blurRad="50800" dist="25400" dir="16200000" algn="bl" rotWithShape="0">
              <a:srgbClr val="C7CDDE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" y="5724144"/>
            <a:ext cx="64008" cy="530352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" y="570585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真实接入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50392" y="59161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已跑通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50392" y="619048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跨仓库真实交付链路闭环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29684" y="5596128"/>
            <a:ext cx="3529584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blurRad="50800" dist="25400" dir="16200000" algn="bl" rotWithShape="0">
              <a:srgbClr val="C7CDDE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329684" y="5724144"/>
            <a:ext cx="64008" cy="530352"/>
          </a:xfrm>
          <a:prstGeom prst="roundRect">
            <a:avLst>
              <a:gd name="adj" fmla="val 50000"/>
            </a:avLst>
          </a:prstGeom>
          <a:solidFill>
            <a:srgbClr val="AEB6D6"/>
          </a:solidFill>
          <a:ln/>
        </p:spPr>
      </p:sp>
      <p:sp>
        <p:nvSpPr>
          <p:cNvPr id="38" name="Text 36"/>
          <p:cNvSpPr/>
          <p:nvPr/>
        </p:nvSpPr>
        <p:spPr>
          <a:xfrm>
            <a:off x="4585716" y="570585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85716" y="59161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585716" y="619048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/ 日志 / 按 Issue 下钻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65008" y="5596128"/>
            <a:ext cx="3529584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blurRad="50800" dist="25400" dir="16200000" algn="bl" rotWithShape="0">
              <a:srgbClr val="C7CDDE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065008" y="5724144"/>
            <a:ext cx="64008" cy="530352"/>
          </a:xfrm>
          <a:prstGeom prst="roundRect">
            <a:avLst>
              <a:gd name="adj" fmla="val 50000"/>
            </a:avLst>
          </a:prstGeom>
          <a:solidFill>
            <a:srgbClr val="AEB6D6"/>
          </a:solidFill>
          <a:ln/>
        </p:spPr>
      </p:sp>
      <p:sp>
        <p:nvSpPr>
          <p:cNvPr id="43" name="Text 41"/>
          <p:cNvSpPr/>
          <p:nvPr/>
        </p:nvSpPr>
        <p:spPr>
          <a:xfrm>
            <a:off x="8321040" y="570585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321040" y="59161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321040" y="619048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多数据集评估与离线评分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183112" y="64190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  <p:sp>
        <p:nvSpPr>
          <p:cNvPr id="4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7.2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9219895" y="36576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19895" y="36576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边界地图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实现边界与复赛计划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426464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初赛可演示 · 复赛可验证 · 开放可复用 —— 边界清晰，逐项可验收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1883664"/>
            <a:ext cx="3538728" cy="4261104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blurRad="50800" dist="25400" dir="16200000" algn="bl" rotWithShape="0">
              <a:srgbClr val="C7CDDE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883664"/>
            <a:ext cx="3538728" cy="493776"/>
          </a:xfrm>
          <a:prstGeom prst="roundRect">
            <a:avLst>
              <a:gd name="adj" fmla="val 18519"/>
            </a:avLst>
          </a:prstGeom>
          <a:solidFill>
            <a:srgbClr val="2A2F5B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883664"/>
            <a:ext cx="212140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 V0.2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80944" y="199339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80944" y="199339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可演示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" y="2697480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1014984" y="2615184"/>
            <a:ext cx="2953512" cy="5212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交付闭环 GUI 演示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" y="3255264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1014984" y="3172968"/>
            <a:ext cx="2953512" cy="5212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跨仓库真实交付链路（PR / CI / 审批 / 合并）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" y="3813048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1014984" y="3730752"/>
            <a:ext cx="2953512" cy="5212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可观测全链路（Trace / 日志 / 按 Issue 下钻）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" y="4370832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1014984" y="4288536"/>
            <a:ext cx="2953512" cy="5212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契约与证据留痕（Evidence Pack）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816" y="4928616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" y="4846320"/>
            <a:ext cx="2953512" cy="5212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离线评估与评分工具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3816" y="5486400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1014984" y="5404104"/>
            <a:ext cx="2953512" cy="5212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依赖降级与一键回滚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5112" y="1883664"/>
            <a:ext cx="3538728" cy="4261104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blurRad="50800" dist="25400" dir="16200000" algn="bl" rotWithShape="0">
              <a:srgbClr val="C7CDDE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25112" y="1883664"/>
            <a:ext cx="3538728" cy="493776"/>
          </a:xfrm>
          <a:prstGeom prst="roundRect">
            <a:avLst>
              <a:gd name="adj" fmla="val 18519"/>
            </a:avLst>
          </a:prstGeom>
          <a:solidFill>
            <a:srgbClr val="2A2F5B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1883664"/>
            <a:ext cx="212140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复赛 V0.5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11696" y="199339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11696" y="199339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44568" y="2697480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4745736" y="2615184"/>
            <a:ext cx="2953512" cy="38176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多数据集严谨验证（多评估集）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44568" y="3115818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4745736" y="3033522"/>
            <a:ext cx="2953512" cy="38176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 / 多任务并发交付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44568" y="3534156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4745736" y="3451860"/>
            <a:ext cx="2953512" cy="38176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执行白名单与安全治理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44568" y="3952494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6" name="Text 34"/>
          <p:cNvSpPr/>
          <p:nvPr/>
        </p:nvSpPr>
        <p:spPr>
          <a:xfrm>
            <a:off x="4745736" y="3870198"/>
            <a:ext cx="2953512" cy="38176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交付上线延伸（K8s / CI/CD）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44568" y="4370832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8" name="Text 36"/>
          <p:cNvSpPr/>
          <p:nvPr/>
        </p:nvSpPr>
        <p:spPr>
          <a:xfrm>
            <a:off x="4745736" y="4288536"/>
            <a:ext cx="2953512" cy="38176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在线评分闭环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544568" y="5207508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2" name="Text 40"/>
          <p:cNvSpPr/>
          <p:nvPr/>
        </p:nvSpPr>
        <p:spPr>
          <a:xfrm>
            <a:off x="4745736" y="5125212"/>
            <a:ext cx="2953512" cy="38176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多租户优化（租户隔离 / 配额）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055864" y="1883664"/>
            <a:ext cx="3538728" cy="4261104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blurRad="50800" dist="25400" dir="16200000" algn="bl" rotWithShape="0">
              <a:srgbClr val="C7CDDE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055864" y="1883664"/>
            <a:ext cx="3538728" cy="493776"/>
          </a:xfrm>
          <a:prstGeom prst="roundRect">
            <a:avLst>
              <a:gd name="adj" fmla="val 18519"/>
            </a:avLst>
          </a:prstGeom>
          <a:solidFill>
            <a:srgbClr val="2A2F5B"/>
          </a:solidFill>
          <a:ln/>
        </p:spPr>
      </p:sp>
      <p:sp>
        <p:nvSpPr>
          <p:cNvPr id="47" name="Text 45"/>
          <p:cNvSpPr/>
          <p:nvPr/>
        </p:nvSpPr>
        <p:spPr>
          <a:xfrm>
            <a:off x="8257032" y="1883664"/>
            <a:ext cx="2121408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开放计划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0442448" y="199339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442448" y="199339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275320" y="2697480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1" name="Text 49"/>
          <p:cNvSpPr/>
          <p:nvPr/>
        </p:nvSpPr>
        <p:spPr>
          <a:xfrm>
            <a:off x="8476488" y="2615184"/>
            <a:ext cx="2953512" cy="5212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/ Skill 模板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275320" y="3255264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3" name="Text 51"/>
          <p:cNvSpPr/>
          <p:nvPr/>
        </p:nvSpPr>
        <p:spPr>
          <a:xfrm>
            <a:off x="8476488" y="3172968"/>
            <a:ext cx="2953512" cy="5212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适配器与离线 mock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275320" y="3813048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5" name="Text 53"/>
          <p:cNvSpPr/>
          <p:nvPr/>
        </p:nvSpPr>
        <p:spPr>
          <a:xfrm>
            <a:off x="8476488" y="3730752"/>
            <a:ext cx="2953512" cy="5212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评估数据集与事故回放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8275320" y="4370832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7" name="Text 55"/>
          <p:cNvSpPr/>
          <p:nvPr/>
        </p:nvSpPr>
        <p:spPr>
          <a:xfrm>
            <a:off x="8476488" y="4288536"/>
            <a:ext cx="2953512" cy="5212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部署与演示脚本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8275320" y="4928616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9" name="Text 57"/>
          <p:cNvSpPr/>
          <p:nvPr/>
        </p:nvSpPr>
        <p:spPr>
          <a:xfrm>
            <a:off x="8476488" y="4846320"/>
            <a:ext cx="2953512" cy="5212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契约与语义规范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8275320" y="5486400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1" name="Text 59"/>
          <p:cNvSpPr/>
          <p:nvPr/>
        </p:nvSpPr>
        <p:spPr>
          <a:xfrm>
            <a:off x="8476488" y="5404104"/>
            <a:ext cx="2953512" cy="5212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评测工具与基线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11183112" y="64190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6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  <p:sp>
        <p:nvSpPr>
          <p:cNvPr id="65" name="Text 42">
            <a:extLst>
              <a:ext uri="{FF2B5EF4-FFF2-40B4-BE49-F238E27FC236}">
                <a16:creationId xmlns:a16="http://schemas.microsoft.com/office/drawing/2014/main" id="{887E40BF-F420-D088-A7BA-E5B04F88D960}"/>
              </a:ext>
            </a:extLst>
          </p:cNvPr>
          <p:cNvSpPr/>
          <p:nvPr/>
        </p:nvSpPr>
        <p:spPr>
          <a:xfrm>
            <a:off x="4764024" y="4706874"/>
            <a:ext cx="2953512" cy="38176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aibot NPC（GitHub Issue / PR 功能）</a:t>
            </a:r>
            <a:endParaRPr lang="en-US" sz="1150" dirty="0"/>
          </a:p>
        </p:txBody>
      </p:sp>
      <p:sp>
        <p:nvSpPr>
          <p:cNvPr id="67" name="Shape 41">
            <a:extLst>
              <a:ext uri="{FF2B5EF4-FFF2-40B4-BE49-F238E27FC236}">
                <a16:creationId xmlns:a16="http://schemas.microsoft.com/office/drawing/2014/main" id="{C7CE78D1-5C6F-3219-AE33-87DB4E3E7375}"/>
              </a:ext>
            </a:extLst>
          </p:cNvPr>
          <p:cNvSpPr/>
          <p:nvPr/>
        </p:nvSpPr>
        <p:spPr>
          <a:xfrm>
            <a:off x="4544568" y="4826162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7.3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9219895" y="36576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19895" y="36576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整体可行性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关键进展与整体可行性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426464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以能力维度呈现关键进展 —— 真实接入已跑通 · 可观测已完成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1883664"/>
            <a:ext cx="6675120" cy="4041648"/>
          </a:xfrm>
          <a:prstGeom prst="roundRect">
            <a:avLst>
              <a:gd name="adj" fmla="val 2262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blurRad="50800" dist="25400" dir="16200000" algn="bl" rotWithShape="0">
              <a:srgbClr val="C7CDDE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883664"/>
            <a:ext cx="6675120" cy="475488"/>
          </a:xfrm>
          <a:prstGeom prst="roundRect">
            <a:avLst>
              <a:gd name="adj" fmla="val 19231"/>
            </a:avLst>
          </a:prstGeom>
          <a:solidFill>
            <a:srgbClr val="2A2F5B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883664"/>
            <a:ext cx="6272784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关键进展 · 能力提升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" y="254203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5420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79576" y="2487168"/>
            <a:ext cx="5925312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仓库扫描能力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79576" y="2852928"/>
            <a:ext cx="5925312" cy="3520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多仓库覆盖与依赖解析能力持续提升，扫描与定位更准确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278124"/>
            <a:ext cx="6035040" cy="10973"/>
          </a:xfrm>
          <a:prstGeom prst="rect">
            <a:avLst/>
          </a:prstGeom>
          <a:solidFill>
            <a:srgbClr val="E9EE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58952" y="340614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34061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79576" y="3351276"/>
            <a:ext cx="5925312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严谨验证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79576" y="3717036"/>
            <a:ext cx="5925312" cy="3520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多数据集评估 + 离线评分工具联动，验证结果可复现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4142232"/>
            <a:ext cx="6035040" cy="10973"/>
          </a:xfrm>
          <a:prstGeom prst="rect">
            <a:avLst/>
          </a:prstGeom>
          <a:solidFill>
            <a:srgbClr val="E9EE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58952" y="42702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42702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79576" y="4215384"/>
            <a:ext cx="5925312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交付功能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79576" y="4581144"/>
            <a:ext cx="5925312" cy="3520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真实接入已跑通，闭环治理（审批 / 回滚）机制完善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5006340"/>
            <a:ext cx="6035040" cy="10973"/>
          </a:xfrm>
          <a:prstGeom prst="rect">
            <a:avLst/>
          </a:prstGeom>
          <a:solidFill>
            <a:srgbClr val="E9EEFB"/>
          </a:solidFill>
          <a:ln/>
        </p:spPr>
      </p:sp>
      <p:sp>
        <p:nvSpPr>
          <p:cNvPr id="25" name="Shape 23"/>
          <p:cNvSpPr/>
          <p:nvPr/>
        </p:nvSpPr>
        <p:spPr>
          <a:xfrm>
            <a:off x="758952" y="5134356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" y="51343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79576" y="5079492"/>
            <a:ext cx="5925312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观测能力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79576" y="5445252"/>
            <a:ext cx="5925312" cy="3520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 Trace / 日志 / 按 Issue 下钻，告警指标联动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52360" y="1883664"/>
            <a:ext cx="4142232" cy="4041648"/>
          </a:xfrm>
          <a:prstGeom prst="roundRect">
            <a:avLst>
              <a:gd name="adj" fmla="val 2262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  <a:effectLst>
            <a:outerShdw blurRad="50800" dist="25400" dir="16200000" algn="bl" rotWithShape="0">
              <a:srgbClr val="C7CDDE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52360" y="1883664"/>
            <a:ext cx="4142232" cy="475488"/>
          </a:xfrm>
          <a:prstGeom prst="roundRect">
            <a:avLst>
              <a:gd name="adj" fmla="val 19231"/>
            </a:avLst>
          </a:prstGeom>
          <a:solidFill>
            <a:srgbClr val="2A2F5B"/>
          </a:solidFill>
          <a:ln/>
        </p:spPr>
      </p:sp>
      <p:sp>
        <p:nvSpPr>
          <p:cNvPr id="31" name="Text 29"/>
          <p:cNvSpPr/>
          <p:nvPr/>
        </p:nvSpPr>
        <p:spPr>
          <a:xfrm>
            <a:off x="7653528" y="1883664"/>
            <a:ext cx="3739896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整体可行性 · 风险控制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616952" y="254203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35"/>
          </a:solidFill>
          <a:ln/>
        </p:spPr>
      </p:sp>
      <p:sp>
        <p:nvSpPr>
          <p:cNvPr id="33" name="Text 31"/>
          <p:cNvSpPr/>
          <p:nvPr/>
        </p:nvSpPr>
        <p:spPr>
          <a:xfrm>
            <a:off x="7616952" y="25420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37576" y="2487168"/>
            <a:ext cx="339242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核心链路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037576" y="2852928"/>
            <a:ext cx="3392424" cy="3520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真实接入与可观测均已完成，主链路闭环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726680" y="3278124"/>
            <a:ext cx="3611880" cy="10973"/>
          </a:xfrm>
          <a:prstGeom prst="rect">
            <a:avLst/>
          </a:prstGeom>
          <a:solidFill>
            <a:srgbClr val="E9EEFB"/>
          </a:solidFill>
          <a:ln/>
        </p:spPr>
      </p:sp>
      <p:sp>
        <p:nvSpPr>
          <p:cNvPr id="37" name="Shape 35"/>
          <p:cNvSpPr/>
          <p:nvPr/>
        </p:nvSpPr>
        <p:spPr>
          <a:xfrm>
            <a:off x="7616952" y="340614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35"/>
          </a:solidFill>
          <a:ln/>
        </p:spPr>
      </p:sp>
      <p:sp>
        <p:nvSpPr>
          <p:cNvPr id="38" name="Text 36"/>
          <p:cNvSpPr/>
          <p:nvPr/>
        </p:nvSpPr>
        <p:spPr>
          <a:xfrm>
            <a:off x="7616952" y="34061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37576" y="3351276"/>
            <a:ext cx="339242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数据支撑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037576" y="3717036"/>
            <a:ext cx="3392424" cy="3520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评估数据集、回放与评分脚本就绪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726680" y="4142232"/>
            <a:ext cx="3611880" cy="10973"/>
          </a:xfrm>
          <a:prstGeom prst="rect">
            <a:avLst/>
          </a:prstGeom>
          <a:solidFill>
            <a:srgbClr val="E9EEFB"/>
          </a:solidFill>
          <a:ln/>
        </p:spPr>
      </p:sp>
      <p:sp>
        <p:nvSpPr>
          <p:cNvPr id="42" name="Shape 40"/>
          <p:cNvSpPr/>
          <p:nvPr/>
        </p:nvSpPr>
        <p:spPr>
          <a:xfrm>
            <a:off x="7616952" y="42702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35"/>
          </a:solidFill>
          <a:ln/>
        </p:spPr>
      </p:sp>
      <p:sp>
        <p:nvSpPr>
          <p:cNvPr id="43" name="Text 41"/>
          <p:cNvSpPr/>
          <p:nvPr/>
        </p:nvSpPr>
        <p:spPr>
          <a:xfrm>
            <a:off x="7616952" y="42702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37576" y="4215384"/>
            <a:ext cx="339242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交付保障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8037576" y="4581144"/>
            <a:ext cx="3392424" cy="3520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 / 审批 / 回滚机制闭环运行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726680" y="5006340"/>
            <a:ext cx="3611880" cy="10973"/>
          </a:xfrm>
          <a:prstGeom prst="rect">
            <a:avLst/>
          </a:prstGeom>
          <a:solidFill>
            <a:srgbClr val="E9EEFB"/>
          </a:solidFill>
          <a:ln/>
        </p:spPr>
      </p:sp>
      <p:sp>
        <p:nvSpPr>
          <p:cNvPr id="47" name="Shape 45"/>
          <p:cNvSpPr/>
          <p:nvPr/>
        </p:nvSpPr>
        <p:spPr>
          <a:xfrm>
            <a:off x="7616952" y="5134356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F6B35"/>
          </a:solidFill>
          <a:ln/>
        </p:spPr>
      </p:sp>
      <p:sp>
        <p:nvSpPr>
          <p:cNvPr id="48" name="Text 46"/>
          <p:cNvSpPr/>
          <p:nvPr/>
        </p:nvSpPr>
        <p:spPr>
          <a:xfrm>
            <a:off x="7616952" y="51343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037576" y="5079492"/>
            <a:ext cx="3392424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风险可控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8037576" y="5445252"/>
            <a:ext cx="3392424" cy="3520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依赖降级、假绿拦截、安全隔离有对策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94360" y="5943600"/>
            <a:ext cx="11000232" cy="420624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  <a:effectLst>
            <a:outerShdw blurRad="50800" dist="25400" dir="16200000" algn="bl" rotWithShape="0">
              <a:srgbClr val="C7CDDE">
                <a:alpha val="1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65760" y="5943600"/>
            <a:ext cx="10268712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整体可行性结论：</a:t>
            </a: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进展扎实 · 计划清晰 · 风险可控 —— 已具备规模化验证与参赛交付条件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1183112" y="64190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318</Words>
  <Application>Microsoft Office PowerPoint</Application>
  <PresentationFormat>宽屏</PresentationFormat>
  <Paragraphs>95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</vt:vector>
  </TitlesOfParts>
  <Company>RepoMesh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WENHUI CHEN</cp:lastModifiedBy>
  <cp:revision>2</cp:revision>
  <dcterms:created xsi:type="dcterms:W3CDTF">2026-08-16T11:19:54Z</dcterms:created>
  <dcterms:modified xsi:type="dcterms:W3CDTF">2026-08-16T11:43:05Z</dcterms:modified>
</cp:coreProperties>
</file>