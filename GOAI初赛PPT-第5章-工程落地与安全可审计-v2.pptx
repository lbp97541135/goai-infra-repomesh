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274320"/>
            <a:ext cx="2011680" cy="2011680"/>
          </a:xfrm>
          <a:prstGeom prst="ellipse">
            <a:avLst/>
          </a:prstGeom>
          <a:solidFill>
            <a:srgbClr val="2A2F5B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109728"/>
            <a:ext cx="822960" cy="822960"/>
          </a:xfrm>
          <a:prstGeom prst="ellipse">
            <a:avLst/>
          </a:prstGeom>
          <a:solidFill>
            <a:srgbClr val="E9EEFB"/>
          </a:solidFill>
          <a:ln/>
        </p:spPr>
      </p:sp>
      <p:sp>
        <p:nvSpPr>
          <p:cNvPr id="4" name="Shape 2"/>
          <p:cNvSpPr/>
          <p:nvPr/>
        </p:nvSpPr>
        <p:spPr>
          <a:xfrm>
            <a:off x="10927080" y="6172200"/>
            <a:ext cx="594360" cy="594360"/>
          </a:xfrm>
          <a:prstGeom prst="ellipse">
            <a:avLst/>
          </a:prstGeom>
          <a:solidFill>
            <a:srgbClr val="E9EEFB"/>
          </a:solidFill>
          <a:ln/>
        </p:spPr>
      </p:sp>
      <p:sp>
        <p:nvSpPr>
          <p:cNvPr id="5" name="Shape 3"/>
          <p:cNvSpPr/>
          <p:nvPr/>
        </p:nvSpPr>
        <p:spPr>
          <a:xfrm>
            <a:off x="594360" y="1572768"/>
            <a:ext cx="7315200" cy="3657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536192"/>
            <a:ext cx="73152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spc="100" kern="0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GOAI 世界人工智能开源大赛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1965960"/>
            <a:ext cx="10424160" cy="1737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965960"/>
            <a:ext cx="1042416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spc="100" kern="0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第五章  工程落地、运行验证与安全可审计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621792" y="30632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9AA1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RepoMesh —— 多 Agent 可观测交付控制平面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94360" y="3822192"/>
            <a:ext cx="6099048" cy="3200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3767328"/>
            <a:ext cx="6099048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Infra 新智基座 · 初赛方案 · 第五章（权重 20%）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4572000"/>
            <a:ext cx="10515600" cy="640080"/>
          </a:xfrm>
          <a:prstGeom prst="roundRect">
            <a:avLst>
              <a:gd name="adj" fmla="val 50000"/>
            </a:avLst>
          </a:prstGeom>
          <a:solidFill>
            <a:srgbClr val="FFEDE4"/>
          </a:solidFill>
          <a:ln w="15240">
            <a:solidFill>
              <a:srgbClr val="FFD9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57200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一键启动 · 全流程 GUI 闭环 · OTel 可观测 · </a:t>
            </a:r>
            <a:pPr algn="ctr" indent="0" marL="0">
              <a:buNone/>
            </a:pPr>
            <a:r>
              <a:rPr lang="en-US" sz="145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安全可审计 · 可回滚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94360" y="6172200"/>
            <a:ext cx="7315200" cy="320040"/>
          </a:xfrm>
          <a:prstGeom prst="rect">
            <a:avLst/>
          </a:prstGeom>
          <a:solidFill>
            <a:srgbClr val="AEB6D6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61264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GOAI 世界人工智能开源大赛 · Agent Infra 新智基座 · 初赛方案</a:t>
            </a:r>
            <a:endParaRPr lang="en-US" sz="1100" dirty="0"/>
          </a:p>
        </p:txBody>
      </p:sp>
      <p:sp>
        <p:nvSpPr>
          <p:cNvPr id="16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868680"/>
            <a:ext cx="1097280" cy="914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9601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2057400"/>
            <a:ext cx="5276088" cy="786384"/>
          </a:xfrm>
          <a:prstGeom prst="roundRect">
            <a:avLst>
              <a:gd name="adj" fmla="val 16279"/>
            </a:avLst>
          </a:prstGeom>
          <a:solidFill>
            <a:srgbClr val="2A2F5B"/>
          </a:solidFill>
          <a:ln/>
        </p:spPr>
      </p:sp>
      <p:sp>
        <p:nvSpPr>
          <p:cNvPr id="5" name="Shape 3"/>
          <p:cNvSpPr/>
          <p:nvPr/>
        </p:nvSpPr>
        <p:spPr>
          <a:xfrm>
            <a:off x="795528" y="230428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FF6B35"/>
          </a:solidFill>
          <a:ln/>
        </p:spPr>
      </p:sp>
      <p:sp>
        <p:nvSpPr>
          <p:cNvPr id="6" name="Text 4"/>
          <p:cNvSpPr/>
          <p:nvPr/>
        </p:nvSpPr>
        <p:spPr>
          <a:xfrm>
            <a:off x="795528" y="230428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52728" y="2148840"/>
            <a:ext cx="448056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可运行性 · 基础设施集成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52728" y="2496312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AEB6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用契约屏蔽环境差异，一条命令拉起全栈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327648" y="2057400"/>
            <a:ext cx="5276088" cy="786384"/>
          </a:xfrm>
          <a:prstGeom prst="roundRect">
            <a:avLst>
              <a:gd name="adj" fmla="val 16279"/>
            </a:avLst>
          </a:prstGeom>
          <a:solidFill>
            <a:srgbClr val="2A2F5B"/>
          </a:solidFill>
          <a:ln/>
        </p:spPr>
      </p:sp>
      <p:sp>
        <p:nvSpPr>
          <p:cNvPr id="10" name="Shape 8"/>
          <p:cNvSpPr/>
          <p:nvPr/>
        </p:nvSpPr>
        <p:spPr>
          <a:xfrm>
            <a:off x="6528816" y="230428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FF6B35"/>
          </a:solidFill>
          <a:ln/>
        </p:spPr>
      </p:sp>
      <p:sp>
        <p:nvSpPr>
          <p:cNvPr id="11" name="Text 9"/>
          <p:cNvSpPr/>
          <p:nvPr/>
        </p:nvSpPr>
        <p:spPr>
          <a:xfrm>
            <a:off x="6528816" y="230428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86016" y="2148840"/>
            <a:ext cx="448056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运行证据 · 证据管理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986016" y="2496312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AEB6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独立验收实测：强 / 弱 / 缺失证据分级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94360" y="3099816"/>
            <a:ext cx="5276088" cy="786384"/>
          </a:xfrm>
          <a:prstGeom prst="roundRect">
            <a:avLst>
              <a:gd name="adj" fmla="val 16279"/>
            </a:avLst>
          </a:prstGeom>
          <a:solidFill>
            <a:srgbClr val="2A2F5B"/>
          </a:solidFill>
          <a:ln/>
        </p:spPr>
      </p:sp>
      <p:sp>
        <p:nvSpPr>
          <p:cNvPr id="15" name="Shape 13"/>
          <p:cNvSpPr/>
          <p:nvPr/>
        </p:nvSpPr>
        <p:spPr>
          <a:xfrm>
            <a:off x="795528" y="334670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FF6B35"/>
          </a:solidFill>
          <a:ln/>
        </p:spPr>
      </p:sp>
      <p:sp>
        <p:nvSpPr>
          <p:cNvPr id="16" name="Text 14"/>
          <p:cNvSpPr/>
          <p:nvPr/>
        </p:nvSpPr>
        <p:spPr>
          <a:xfrm>
            <a:off x="795528" y="334670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52728" y="3191256"/>
            <a:ext cx="448056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可观测 · 评估与安全边界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52728" y="3538728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AEB6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OTel 轨迹回放 · 效果指标 · 分层执行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327648" y="3099816"/>
            <a:ext cx="5276088" cy="786384"/>
          </a:xfrm>
          <a:prstGeom prst="roundRect">
            <a:avLst>
              <a:gd name="adj" fmla="val 16279"/>
            </a:avLst>
          </a:prstGeom>
          <a:solidFill>
            <a:srgbClr val="2A2F5B"/>
          </a:solidFill>
          <a:ln/>
        </p:spPr>
      </p:sp>
      <p:sp>
        <p:nvSpPr>
          <p:cNvPr id="20" name="Shape 18"/>
          <p:cNvSpPr/>
          <p:nvPr/>
        </p:nvSpPr>
        <p:spPr>
          <a:xfrm>
            <a:off x="6528816" y="334670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FF6B35"/>
          </a:solidFill>
          <a:ln/>
        </p:spPr>
      </p:sp>
      <p:sp>
        <p:nvSpPr>
          <p:cNvPr id="21" name="Text 19"/>
          <p:cNvSpPr/>
          <p:nvPr/>
        </p:nvSpPr>
        <p:spPr>
          <a:xfrm>
            <a:off x="6528816" y="334670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86016" y="3191256"/>
            <a:ext cx="448056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安全治理 · 交付控制面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986016" y="3538728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AEB6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契约 → 验证 → 审批 → 审计 → 回滚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457804" y="4142232"/>
            <a:ext cx="5276088" cy="786384"/>
          </a:xfrm>
          <a:prstGeom prst="roundRect">
            <a:avLst>
              <a:gd name="adj" fmla="val 16279"/>
            </a:avLst>
          </a:prstGeom>
          <a:solidFill>
            <a:srgbClr val="2A2F5B"/>
          </a:solidFill>
          <a:ln/>
        </p:spPr>
      </p:sp>
      <p:sp>
        <p:nvSpPr>
          <p:cNvPr id="25" name="Shape 23"/>
          <p:cNvSpPr/>
          <p:nvPr/>
        </p:nvSpPr>
        <p:spPr>
          <a:xfrm>
            <a:off x="3658972" y="438912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FF6B35"/>
          </a:solidFill>
          <a:ln/>
        </p:spPr>
      </p:sp>
      <p:sp>
        <p:nvSpPr>
          <p:cNvPr id="26" name="Text 24"/>
          <p:cNvSpPr/>
          <p:nvPr/>
        </p:nvSpPr>
        <p:spPr>
          <a:xfrm>
            <a:off x="3658972" y="43891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116172" y="4233672"/>
            <a:ext cx="448056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云产品选型的必要性与边界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116172" y="4581144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AEB6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满足赛题基点 · 观测可插拔 · 诚实降级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94360" y="5349240"/>
            <a:ext cx="11000232" cy="548640"/>
          </a:xfrm>
          <a:prstGeom prst="roundRect">
            <a:avLst>
              <a:gd name="adj" fmla="val 50000"/>
            </a:avLst>
          </a:prstGeom>
          <a:solidFill>
            <a:srgbClr val="E9EEFB"/>
          </a:solidFill>
          <a:ln/>
        </p:spPr>
      </p:sp>
      <p:sp>
        <p:nvSpPr>
          <p:cNvPr id="30" name="Text 28"/>
          <p:cNvSpPr/>
          <p:nvPr/>
        </p:nvSpPr>
        <p:spPr>
          <a:xfrm>
            <a:off x="868680" y="5349240"/>
            <a:ext cx="10451592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本部分：工程落地与运行验证 —— 对应评分维度「</a:t>
            </a:r>
            <a:pPr algn="ctr"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工程落地与安全可审计</a:t>
            </a:r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」，权重 20%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50" dirty="0"/>
          </a:p>
        </p:txBody>
      </p:sp>
      <p:sp>
        <p:nvSpPr>
          <p:cNvPr id="32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42632" y="365760"/>
            <a:ext cx="4480560" cy="786384"/>
          </a:xfrm>
          <a:prstGeom prst="roundRect">
            <a:avLst>
              <a:gd name="adj" fmla="val 50000"/>
            </a:avLst>
          </a:prstGeom>
          <a:solidFill>
            <a:srgbClr val="FFEDE4"/>
          </a:solidFill>
          <a:ln/>
        </p:spPr>
      </p:sp>
      <p:sp>
        <p:nvSpPr>
          <p:cNvPr id="3" name="Text 1"/>
          <p:cNvSpPr/>
          <p:nvPr/>
        </p:nvSpPr>
        <p:spPr>
          <a:xfrm>
            <a:off x="7543800" y="438912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对应评分维度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543800" y="676656"/>
            <a:ext cx="310896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工程落地与安全可审计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771632" y="530352"/>
            <a:ext cx="868680" cy="457200"/>
          </a:xfrm>
          <a:prstGeom prst="roundRect">
            <a:avLst>
              <a:gd name="adj" fmla="val 18000"/>
            </a:avLst>
          </a:prstGeom>
          <a:solidFill>
            <a:srgbClr val="FF6B35"/>
          </a:solidFill>
          <a:ln/>
        </p:spPr>
      </p:sp>
      <p:sp>
        <p:nvSpPr>
          <p:cNvPr id="6" name="Text 4"/>
          <p:cNvSpPr/>
          <p:nvPr/>
        </p:nvSpPr>
        <p:spPr>
          <a:xfrm>
            <a:off x="10771632" y="530352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20%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2880360"/>
            <a:ext cx="685800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第五章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94360" y="315468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工程落地、运行验证与安全可审计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40080" y="4297680"/>
            <a:ext cx="1737360" cy="10972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0" name="Text 8"/>
          <p:cNvSpPr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50" dirty="0"/>
          </a:p>
        </p:txBody>
      </p:sp>
      <p:sp>
        <p:nvSpPr>
          <p:cNvPr id="11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第五章 · 5.1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950976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  可运行性 · 基础设施集成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3716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用契约屏蔽环境差异 —— 一条命令拉起全栈（开发档 / compose 双路径）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628071" y="384048"/>
            <a:ext cx="969264" cy="384048"/>
          </a:xfrm>
          <a:prstGeom prst="roundRect">
            <a:avLst>
              <a:gd name="adj" fmla="val 50000"/>
            </a:avLst>
          </a:prstGeom>
          <a:solidFill>
            <a:srgbClr val="FFEDE4"/>
          </a:solidFill>
          <a:ln w="12700">
            <a:solidFill>
              <a:srgbClr val="FFD9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28071" y="384048"/>
            <a:ext cx="969264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一键启动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" y="2057400"/>
            <a:ext cx="3483864" cy="1417320"/>
          </a:xfrm>
          <a:prstGeom prst="roundRect">
            <a:avLst>
              <a:gd name="adj" fmla="val 7742"/>
            </a:avLst>
          </a:prstGeom>
          <a:solidFill>
            <a:srgbClr val="E9EEFB"/>
          </a:solidFill>
          <a:ln/>
        </p:spPr>
      </p:sp>
      <p:sp>
        <p:nvSpPr>
          <p:cNvPr id="8" name="Shape 6"/>
          <p:cNvSpPr/>
          <p:nvPr/>
        </p:nvSpPr>
        <p:spPr>
          <a:xfrm>
            <a:off x="758952" y="2203704"/>
            <a:ext cx="146304" cy="146304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9" name="Text 7"/>
          <p:cNvSpPr/>
          <p:nvPr/>
        </p:nvSpPr>
        <p:spPr>
          <a:xfrm>
            <a:off x="996696" y="2148840"/>
            <a:ext cx="2935224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AgentTeams(Matrix)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96696" y="2496312"/>
            <a:ext cx="2898648" cy="8503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 Agent 建团协作、状态流转、teamRoom + leaderDM 双房间派工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52544" y="2057400"/>
            <a:ext cx="3483864" cy="1417320"/>
          </a:xfrm>
          <a:prstGeom prst="roundRect">
            <a:avLst>
              <a:gd name="adj" fmla="val 7742"/>
            </a:avLst>
          </a:prstGeom>
          <a:solidFill>
            <a:srgbClr val="E9EEFB"/>
          </a:solidFill>
          <a:ln/>
        </p:spPr>
      </p:sp>
      <p:sp>
        <p:nvSpPr>
          <p:cNvPr id="12" name="Shape 10"/>
          <p:cNvSpPr/>
          <p:nvPr/>
        </p:nvSpPr>
        <p:spPr>
          <a:xfrm>
            <a:off x="4517136" y="2203704"/>
            <a:ext cx="146304" cy="146304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2148840"/>
            <a:ext cx="2935224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Higress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54880" y="2496312"/>
            <a:ext cx="2898648" cy="8503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网关统一汇聚：key-auth 鉴权、模型路由、限流与流量治理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110728" y="2057400"/>
            <a:ext cx="3483864" cy="1417320"/>
          </a:xfrm>
          <a:prstGeom prst="roundRect">
            <a:avLst>
              <a:gd name="adj" fmla="val 7742"/>
            </a:avLst>
          </a:prstGeom>
          <a:solidFill>
            <a:srgbClr val="E9EEFB"/>
          </a:solidFill>
          <a:ln/>
        </p:spPr>
      </p:sp>
      <p:sp>
        <p:nvSpPr>
          <p:cNvPr id="16" name="Shape 14"/>
          <p:cNvSpPr/>
          <p:nvPr/>
        </p:nvSpPr>
        <p:spPr>
          <a:xfrm>
            <a:off x="8275320" y="2203704"/>
            <a:ext cx="146304" cy="146304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7" name="Text 15"/>
          <p:cNvSpPr/>
          <p:nvPr/>
        </p:nvSpPr>
        <p:spPr>
          <a:xfrm>
            <a:off x="8513064" y="2148840"/>
            <a:ext cx="2935224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PostgreSQL + Alembic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513064" y="2496312"/>
            <a:ext cx="2898648" cy="8503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持久化与 schema 迁移、事务边界、可回滚的数据底座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94360" y="3694176"/>
            <a:ext cx="3483864" cy="1417320"/>
          </a:xfrm>
          <a:prstGeom prst="roundRect">
            <a:avLst>
              <a:gd name="adj" fmla="val 7742"/>
            </a:avLst>
          </a:prstGeom>
          <a:solidFill>
            <a:srgbClr val="E9EEFB"/>
          </a:solidFill>
          <a:ln/>
        </p:spPr>
      </p:sp>
      <p:sp>
        <p:nvSpPr>
          <p:cNvPr id="20" name="Shape 18"/>
          <p:cNvSpPr/>
          <p:nvPr/>
        </p:nvSpPr>
        <p:spPr>
          <a:xfrm>
            <a:off x="758952" y="3840480"/>
            <a:ext cx="146304" cy="146304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1" name="Text 19"/>
          <p:cNvSpPr/>
          <p:nvPr/>
        </p:nvSpPr>
        <p:spPr>
          <a:xfrm>
            <a:off x="996696" y="3785616"/>
            <a:ext cx="2935224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MinIO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96696" y="4133088"/>
            <a:ext cx="2898648" cy="8503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 Agent 共享工件与统一工作区，幂等重跑不污染真仓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352544" y="3694176"/>
            <a:ext cx="3483864" cy="1417320"/>
          </a:xfrm>
          <a:prstGeom prst="roundRect">
            <a:avLst>
              <a:gd name="adj" fmla="val 7742"/>
            </a:avLst>
          </a:prstGeom>
          <a:solidFill>
            <a:srgbClr val="E9EEFB"/>
          </a:solidFill>
          <a:ln/>
        </p:spPr>
      </p:sp>
      <p:sp>
        <p:nvSpPr>
          <p:cNvPr id="24" name="Shape 22"/>
          <p:cNvSpPr/>
          <p:nvPr/>
        </p:nvSpPr>
        <p:spPr>
          <a:xfrm>
            <a:off x="4517136" y="3840480"/>
            <a:ext cx="146304" cy="146304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5" name="Text 23"/>
          <p:cNvSpPr/>
          <p:nvPr/>
        </p:nvSpPr>
        <p:spPr>
          <a:xfrm>
            <a:off x="4754880" y="3785616"/>
            <a:ext cx="2935224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OTel Collector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754880" y="4133088"/>
            <a:ext cx="2898648" cy="8503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链路 / 日志 / 指标汇聚点，一处接入可观测与告警栈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8110728" y="3694176"/>
            <a:ext cx="3483864" cy="1417320"/>
          </a:xfrm>
          <a:prstGeom prst="roundRect">
            <a:avLst>
              <a:gd name="adj" fmla="val 7742"/>
            </a:avLst>
          </a:prstGeom>
          <a:solidFill>
            <a:srgbClr val="E9EEFB"/>
          </a:solidFill>
          <a:ln/>
        </p:spPr>
      </p:sp>
      <p:sp>
        <p:nvSpPr>
          <p:cNvPr id="28" name="Shape 26"/>
          <p:cNvSpPr/>
          <p:nvPr/>
        </p:nvSpPr>
        <p:spPr>
          <a:xfrm>
            <a:off x="8275320" y="3840480"/>
            <a:ext cx="146304" cy="146304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9" name="Text 27"/>
          <p:cNvSpPr/>
          <p:nvPr/>
        </p:nvSpPr>
        <p:spPr>
          <a:xfrm>
            <a:off x="8513064" y="3785616"/>
            <a:ext cx="2935224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Scoring 用例库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513064" y="4133088"/>
            <a:ext cx="2898648" cy="8503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TrainTicket 15 用例、测试可信度五形态、评估回放基线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94360" y="5349240"/>
            <a:ext cx="11000232" cy="658368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/>
        </p:spPr>
      </p:sp>
      <p:sp>
        <p:nvSpPr>
          <p:cNvPr id="32" name="Text 30"/>
          <p:cNvSpPr/>
          <p:nvPr/>
        </p:nvSpPr>
        <p:spPr>
          <a:xfrm>
            <a:off x="960120" y="5349240"/>
            <a:ext cx="10268712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设计原则 —— Port 契约抽象能力，基础设施实现 Port：Mock 与真实接入共用同一契约；Runner 注入真仓环境，验证不依赖 UI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050" dirty="0"/>
          </a:p>
        </p:txBody>
      </p:sp>
      <p:sp>
        <p:nvSpPr>
          <p:cNvPr id="34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第五章 · 5.2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950976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  运行证据 · 证据管理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3716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独立验收实测（2026-08-12 终态）：主链达成，全程 GUI、0 步命令行写入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628071" y="384048"/>
            <a:ext cx="969264" cy="384048"/>
          </a:xfrm>
          <a:prstGeom prst="roundRect">
            <a:avLst>
              <a:gd name="adj" fmla="val 50000"/>
            </a:avLst>
          </a:prstGeom>
          <a:solidFill>
            <a:srgbClr val="FFEDE4"/>
          </a:solidFill>
          <a:ln w="12700">
            <a:solidFill>
              <a:srgbClr val="FFD9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28071" y="384048"/>
            <a:ext cx="969264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独立验收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" y="1783080"/>
            <a:ext cx="11000232" cy="512064"/>
          </a:xfrm>
          <a:prstGeom prst="roundRect">
            <a:avLst>
              <a:gd name="adj" fmla="val 50000"/>
            </a:avLst>
          </a:prstGeom>
          <a:solidFill>
            <a:srgbClr val="E9EEFB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783080"/>
            <a:ext cx="10268712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核心原则：没有证据 = 没有交付 —— </a:t>
            </a:r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无测试结果证据硬性拒收；跨仓未决如实上报，不草率结论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94360" y="2606040"/>
            <a:ext cx="2075688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5240">
            <a:solidFill>
              <a:srgbClr val="AEB6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4088" y="2715768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FF6B35"/>
          </a:solidFill>
          <a:ln/>
        </p:spPr>
      </p:sp>
      <p:sp>
        <p:nvSpPr>
          <p:cNvPr id="11" name="Text 9"/>
          <p:cNvSpPr/>
          <p:nvPr/>
        </p:nvSpPr>
        <p:spPr>
          <a:xfrm>
            <a:off x="704088" y="271576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22376" y="3008376"/>
            <a:ext cx="1819656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输入归并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22376" y="3264408"/>
            <a:ext cx="1819656" cy="28346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GUI 建 Issue + 仓库扫描 + 依赖图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825496" y="2606040"/>
            <a:ext cx="2075688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5240">
            <a:solidFill>
              <a:srgbClr val="AEB6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35224" y="2715768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FF6B35"/>
          </a:solidFill>
          <a:ln/>
        </p:spPr>
      </p:sp>
      <p:sp>
        <p:nvSpPr>
          <p:cNvPr id="16" name="Text 14"/>
          <p:cNvSpPr/>
          <p:nvPr/>
        </p:nvSpPr>
        <p:spPr>
          <a:xfrm>
            <a:off x="2935224" y="271576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953512" y="3008376"/>
            <a:ext cx="1819656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上下文整理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953512" y="3264408"/>
            <a:ext cx="1819656" cy="28346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需求分析充分度 0.90 + 仓库发现 5 候选评分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056632" y="2606040"/>
            <a:ext cx="2075688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5240">
            <a:solidFill>
              <a:srgbClr val="AEB6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66360" y="2715768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FF6B35"/>
          </a:solidFill>
          <a:ln/>
        </p:spPr>
      </p:sp>
      <p:sp>
        <p:nvSpPr>
          <p:cNvPr id="21" name="Text 19"/>
          <p:cNvSpPr/>
          <p:nvPr/>
        </p:nvSpPr>
        <p:spPr>
          <a:xfrm>
            <a:off x="5166360" y="271576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184648" y="3008376"/>
            <a:ext cx="1819656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证据评分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184648" y="3264408"/>
            <a:ext cx="1819656" cy="28346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Runner 独立验证：测试真跑 exit 0 + CI 绿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287768" y="2606040"/>
            <a:ext cx="2075688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5240">
            <a:solidFill>
              <a:srgbClr val="AEB6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97496" y="2715768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FF6B35"/>
          </a:solidFill>
          <a:ln/>
        </p:spPr>
      </p:sp>
      <p:sp>
        <p:nvSpPr>
          <p:cNvPr id="26" name="Text 24"/>
          <p:cNvSpPr/>
          <p:nvPr/>
        </p:nvSpPr>
        <p:spPr>
          <a:xfrm>
            <a:off x="7397496" y="271576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415784" y="3008376"/>
            <a:ext cx="1819656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输出闭环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415784" y="3264408"/>
            <a:ext cx="1819656" cy="28346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授权单（不可变快照 + SHA）→ 自动 merge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9518904" y="2606040"/>
            <a:ext cx="2075688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5240">
            <a:solidFill>
              <a:srgbClr val="FF6B3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628632" y="2715768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FF6B35"/>
          </a:solidFill>
          <a:ln/>
        </p:spPr>
      </p:sp>
      <p:sp>
        <p:nvSpPr>
          <p:cNvPr id="31" name="Text 29"/>
          <p:cNvSpPr/>
          <p:nvPr/>
        </p:nvSpPr>
        <p:spPr>
          <a:xfrm>
            <a:off x="9628632" y="271576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646920" y="3008376"/>
            <a:ext cx="1819656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回滚兜底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9646920" y="3264408"/>
            <a:ext cx="1819656" cy="28346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 ChangeSet 回滚 + 自动开 revert PR #4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94360" y="3977640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证据分级示例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594360" y="4407408"/>
            <a:ext cx="3538728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7780">
            <a:solidFill>
              <a:srgbClr val="FF6B3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4553712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/>
        </p:spPr>
      </p:sp>
      <p:sp>
        <p:nvSpPr>
          <p:cNvPr id="37" name="Text 35"/>
          <p:cNvSpPr/>
          <p:nvPr/>
        </p:nvSpPr>
        <p:spPr>
          <a:xfrm>
            <a:off x="777240" y="455371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强证据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777240" y="4919472"/>
            <a:ext cx="3172968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CI tests 绿 + 授权单绑定不可变快照与 HEAD-BOUND SHA，merge_sha 逐字留证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370832" y="4407408"/>
            <a:ext cx="3538728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7780">
            <a:solidFill>
              <a:srgbClr val="AEB6D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53712" y="4553712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AEB6D6"/>
          </a:solidFill>
          <a:ln/>
        </p:spPr>
      </p:sp>
      <p:sp>
        <p:nvSpPr>
          <p:cNvPr id="41" name="Text 39"/>
          <p:cNvSpPr/>
          <p:nvPr/>
        </p:nvSpPr>
        <p:spPr>
          <a:xfrm>
            <a:off x="4553712" y="455371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弱证据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553712" y="4919472"/>
            <a:ext cx="3172968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自测自证（自己跑测试、自己声明成功），无独立验证方与审计记录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8147304" y="4407408"/>
            <a:ext cx="3538728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7780">
            <a:solidFill>
              <a:srgbClr val="9AA1B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330184" y="4553712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9AA1B8"/>
          </a:solidFill>
          <a:ln/>
        </p:spPr>
      </p:sp>
      <p:sp>
        <p:nvSpPr>
          <p:cNvPr id="45" name="Text 43"/>
          <p:cNvSpPr/>
          <p:nvPr/>
        </p:nvSpPr>
        <p:spPr>
          <a:xfrm>
            <a:off x="8330184" y="455371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缺失证据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8330184" y="4919472"/>
            <a:ext cx="3172968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无测试结果 / 跨仓变更缺仓库级验证 → 硬性拒收，如实上报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94360" y="5897880"/>
            <a:ext cx="11000232" cy="457200"/>
          </a:xfrm>
          <a:prstGeom prst="roundRect">
            <a:avLst>
              <a:gd name="adj" fmla="val 50000"/>
            </a:avLst>
          </a:prstGeom>
          <a:solidFill>
            <a:srgbClr val="E9EEFB"/>
          </a:solidFill>
          <a:ln/>
        </p:spPr>
      </p:sp>
      <p:sp>
        <p:nvSpPr>
          <p:cNvPr id="48" name="Text 46"/>
          <p:cNvSpPr/>
          <p:nvPr/>
        </p:nvSpPr>
        <p:spPr>
          <a:xfrm>
            <a:off x="960120" y="5897880"/>
            <a:ext cx="10268712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验收判据：判据① 全流程 GUI 闭环达成 · 判据② 一键打开通过（compose 冷路径实证，down -v 只删 console 专属卷）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050" dirty="0"/>
          </a:p>
        </p:txBody>
      </p:sp>
      <p:sp>
        <p:nvSpPr>
          <p:cNvPr id="50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第五章 · 5.3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950976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5.3  可观测 · 评估与安全边界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3716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遵循 OpenTelemetry GenAI 语义 v1.38 —— 赛题 5 项必答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628071" y="384048"/>
            <a:ext cx="969264" cy="384048"/>
          </a:xfrm>
          <a:prstGeom prst="roundRect">
            <a:avLst>
              <a:gd name="adj" fmla="val 50000"/>
            </a:avLst>
          </a:prstGeom>
          <a:solidFill>
            <a:srgbClr val="FFEDE4"/>
          </a:solidFill>
          <a:ln w="12700">
            <a:solidFill>
              <a:srgbClr val="FFD9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28071" y="384048"/>
            <a:ext cx="969264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赛题必答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" y="1783080"/>
            <a:ext cx="11000232" cy="512064"/>
          </a:xfrm>
          <a:prstGeom prst="roundRect">
            <a:avLst>
              <a:gd name="adj" fmla="val 50000"/>
            </a:avLst>
          </a:prstGeom>
          <a:solidFill>
            <a:srgbClr val="E9EEFB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783080"/>
            <a:ext cx="10268712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核心原则：企业缺的不是生成速度，而是 </a:t>
            </a:r>
            <a:pPr algn="ctr" indent="0" marL="0">
              <a:buNone/>
            </a:pPr>
            <a:r>
              <a:rPr lang="en-US" sz="125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可验证、可审计、可回溯</a:t>
            </a:r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的交付控制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94360" y="2560320"/>
            <a:ext cx="3538728" cy="1417320"/>
          </a:xfrm>
          <a:prstGeom prst="roundRect">
            <a:avLst>
              <a:gd name="adj" fmla="val 7742"/>
            </a:avLst>
          </a:prstGeom>
          <a:solidFill>
            <a:srgbClr val="E9EEFB"/>
          </a:solidFill>
          <a:ln/>
        </p:spPr>
      </p:sp>
      <p:sp>
        <p:nvSpPr>
          <p:cNvPr id="10" name="Shape 8"/>
          <p:cNvSpPr/>
          <p:nvPr/>
        </p:nvSpPr>
        <p:spPr>
          <a:xfrm>
            <a:off x="758952" y="2706624"/>
            <a:ext cx="146304" cy="146304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1" name="Text 9"/>
          <p:cNvSpPr/>
          <p:nvPr/>
        </p:nvSpPr>
        <p:spPr>
          <a:xfrm>
            <a:off x="996696" y="2651760"/>
            <a:ext cx="2990088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轨迹追踪 · 可回放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96696" y="2999232"/>
            <a:ext cx="2953512" cy="8503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chat / invoke_agent / execute_tool 全链路 span；按 task_id / run_id / correlation_id 索引，单条 trace 完整回放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370832" y="2560320"/>
            <a:ext cx="3538728" cy="1417320"/>
          </a:xfrm>
          <a:prstGeom prst="roundRect">
            <a:avLst>
              <a:gd name="adj" fmla="val 7742"/>
            </a:avLst>
          </a:prstGeom>
          <a:solidFill>
            <a:srgbClr val="E9EEFB"/>
          </a:solidFill>
          <a:ln/>
        </p:spPr>
      </p:sp>
      <p:sp>
        <p:nvSpPr>
          <p:cNvPr id="14" name="Shape 12"/>
          <p:cNvSpPr/>
          <p:nvPr/>
        </p:nvSpPr>
        <p:spPr>
          <a:xfrm>
            <a:off x="4535424" y="2706624"/>
            <a:ext cx="146304" cy="146304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5" name="Text 13"/>
          <p:cNvSpPr/>
          <p:nvPr/>
        </p:nvSpPr>
        <p:spPr>
          <a:xfrm>
            <a:off x="4773168" y="2651760"/>
            <a:ext cx="2990088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效果指标 · 可量化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73168" y="2999232"/>
            <a:ext cx="2953512" cy="8503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/ 成本 / 延迟 / 成功率 / 失败率；按 issue / 仓库 / agent 聚合，支撑买套餐决策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147304" y="2560320"/>
            <a:ext cx="3538728" cy="1417320"/>
          </a:xfrm>
          <a:prstGeom prst="roundRect">
            <a:avLst>
              <a:gd name="adj" fmla="val 7742"/>
            </a:avLst>
          </a:prstGeom>
          <a:solidFill>
            <a:srgbClr val="E9EEFB"/>
          </a:solidFill>
          <a:ln/>
        </p:spPr>
      </p:sp>
      <p:sp>
        <p:nvSpPr>
          <p:cNvPr id="18" name="Shape 16"/>
          <p:cNvSpPr/>
          <p:nvPr/>
        </p:nvSpPr>
        <p:spPr>
          <a:xfrm>
            <a:off x="8311896" y="2706624"/>
            <a:ext cx="146304" cy="146304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9" name="Text 17"/>
          <p:cNvSpPr/>
          <p:nvPr/>
        </p:nvSpPr>
        <p:spPr>
          <a:xfrm>
            <a:off x="8549640" y="2651760"/>
            <a:ext cx="2990088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实验评测 · 可对比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549640" y="2999232"/>
            <a:ext cx="2953512" cy="8503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trace ↔ scoring.py：TrainTicket 15 用例 recall / precision / F1，形成判定置信度校准曲线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94360" y="4206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安全执行分层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94360" y="4572000"/>
            <a:ext cx="2569464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5240">
            <a:solidFill>
              <a:srgbClr val="AEB6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22376" y="4700016"/>
            <a:ext cx="548640" cy="310896"/>
          </a:xfrm>
          <a:prstGeom prst="roundRect">
            <a:avLst>
              <a:gd name="adj" fmla="val 17647"/>
            </a:avLst>
          </a:prstGeom>
          <a:solidFill>
            <a:srgbClr val="9AA1B8"/>
          </a:solidFill>
          <a:ln/>
        </p:spPr>
      </p:sp>
      <p:sp>
        <p:nvSpPr>
          <p:cNvPr id="24" name="Text 22"/>
          <p:cNvSpPr/>
          <p:nvPr/>
        </p:nvSpPr>
        <p:spPr>
          <a:xfrm>
            <a:off x="722376" y="4700016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L0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380744" y="4663440"/>
            <a:ext cx="1655064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只读诊断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22376" y="5084064"/>
            <a:ext cx="2313432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仓库发现评分、依赖图扫描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401568" y="4572000"/>
            <a:ext cx="2569464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5240">
            <a:solidFill>
              <a:srgbClr val="AEB6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529584" y="4700016"/>
            <a:ext cx="548640" cy="310896"/>
          </a:xfrm>
          <a:prstGeom prst="roundRect">
            <a:avLst>
              <a:gd name="adj" fmla="val 17647"/>
            </a:avLst>
          </a:prstGeom>
          <a:solidFill>
            <a:srgbClr val="9AA1B8"/>
          </a:solidFill>
          <a:ln/>
        </p:spPr>
      </p:sp>
      <p:sp>
        <p:nvSpPr>
          <p:cNvPr id="29" name="Text 27"/>
          <p:cNvSpPr/>
          <p:nvPr/>
        </p:nvSpPr>
        <p:spPr>
          <a:xfrm>
            <a:off x="3529584" y="4700016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187952" y="4663440"/>
            <a:ext cx="1655064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低风险自动执行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529584" y="5084064"/>
            <a:ext cx="2313432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Runner 备工作区、沙箱内跑测试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208776" y="4572000"/>
            <a:ext cx="2569464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5240">
            <a:solidFill>
              <a:srgbClr val="AEB6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36792" y="4700016"/>
            <a:ext cx="548640" cy="310896"/>
          </a:xfrm>
          <a:prstGeom prst="roundRect">
            <a:avLst>
              <a:gd name="adj" fmla="val 17647"/>
            </a:avLst>
          </a:prstGeom>
          <a:solidFill>
            <a:srgbClr val="FF6B35"/>
          </a:solidFill>
          <a:ln/>
        </p:spPr>
      </p:sp>
      <p:sp>
        <p:nvSpPr>
          <p:cNvPr id="34" name="Text 32"/>
          <p:cNvSpPr/>
          <p:nvPr/>
        </p:nvSpPr>
        <p:spPr>
          <a:xfrm>
            <a:off x="6336792" y="4700016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L2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995160" y="4663440"/>
            <a:ext cx="1655064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灰度 + 审批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336792" y="5084064"/>
            <a:ext cx="2313432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授权单必经点（不可变快照）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9015984" y="4572000"/>
            <a:ext cx="2569464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5240">
            <a:solidFill>
              <a:srgbClr val="AEB6D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144000" y="4700016"/>
            <a:ext cx="548640" cy="310896"/>
          </a:xfrm>
          <a:prstGeom prst="roundRect">
            <a:avLst>
              <a:gd name="adj" fmla="val 17647"/>
            </a:avLst>
          </a:prstGeom>
          <a:solidFill>
            <a:srgbClr val="9AA1B8"/>
          </a:solidFill>
          <a:ln/>
        </p:spPr>
      </p:sp>
      <p:sp>
        <p:nvSpPr>
          <p:cNvPr id="39" name="Text 37"/>
          <p:cNvSpPr/>
          <p:nvPr/>
        </p:nvSpPr>
        <p:spPr>
          <a:xfrm>
            <a:off x="9144000" y="4700016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L3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9802368" y="4663440"/>
            <a:ext cx="1655064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只生成方案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9144000" y="5084064"/>
            <a:ext cx="2313432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 DAG 预览、回滚预案生成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94360" y="5715000"/>
            <a:ext cx="11000232" cy="548640"/>
          </a:xfrm>
          <a:prstGeom prst="roundRect">
            <a:avLst>
              <a:gd name="adj" fmla="val 50000"/>
            </a:avLst>
          </a:prstGeom>
          <a:solidFill>
            <a:srgbClr val="FFEDE4"/>
          </a:solidFill>
          <a:ln w="12700">
            <a:solidFill>
              <a:srgbClr val="FFD9C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60120" y="5715000"/>
            <a:ext cx="10268712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安全执行前置条件 —— 六检查点全绿 · 审批记录 append-only · 授权单绑定 HEAD-BOUND SHA · 自动回滚点就绪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050" dirty="0"/>
          </a:p>
        </p:txBody>
      </p:sp>
      <p:sp>
        <p:nvSpPr>
          <p:cNvPr id="45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AI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第五章 · 5.4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950976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5.4  安全治理 · 交付控制面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3716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从契约到审计：治理内建而非事后补救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628071" y="384048"/>
            <a:ext cx="969264" cy="384048"/>
          </a:xfrm>
          <a:prstGeom prst="roundRect">
            <a:avLst>
              <a:gd name="adj" fmla="val 50000"/>
            </a:avLst>
          </a:prstGeom>
          <a:solidFill>
            <a:srgbClr val="FFEDE4"/>
          </a:solidFill>
          <a:ln w="12700">
            <a:solidFill>
              <a:srgbClr val="FFD9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28071" y="384048"/>
            <a:ext cx="969264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治理内建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" y="2011680"/>
            <a:ext cx="3483864" cy="1417320"/>
          </a:xfrm>
          <a:prstGeom prst="roundRect">
            <a:avLst>
              <a:gd name="adj" fmla="val 7742"/>
            </a:avLst>
          </a:prstGeom>
          <a:solidFill>
            <a:srgbClr val="E9EEFB"/>
          </a:solidFill>
          <a:ln/>
        </p:spPr>
      </p:sp>
      <p:sp>
        <p:nvSpPr>
          <p:cNvPr id="8" name="Shape 6"/>
          <p:cNvSpPr/>
          <p:nvPr/>
        </p:nvSpPr>
        <p:spPr>
          <a:xfrm>
            <a:off x="758952" y="2157984"/>
            <a:ext cx="146304" cy="146304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9" name="Text 7"/>
          <p:cNvSpPr/>
          <p:nvPr/>
        </p:nvSpPr>
        <p:spPr>
          <a:xfrm>
            <a:off x="996696" y="2103120"/>
            <a:ext cx="2935224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Delivery Contract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96696" y="2450592"/>
            <a:ext cx="2898648" cy="8503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强制 human_approval，evidence_version 精确绑定审批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52544" y="2011680"/>
            <a:ext cx="3483864" cy="1417320"/>
          </a:xfrm>
          <a:prstGeom prst="roundRect">
            <a:avLst>
              <a:gd name="adj" fmla="val 7742"/>
            </a:avLst>
          </a:prstGeom>
          <a:solidFill>
            <a:srgbClr val="E9EEFB"/>
          </a:solidFill>
          <a:ln/>
        </p:spPr>
      </p:sp>
      <p:sp>
        <p:nvSpPr>
          <p:cNvPr id="12" name="Shape 10"/>
          <p:cNvSpPr/>
          <p:nvPr/>
        </p:nvSpPr>
        <p:spPr>
          <a:xfrm>
            <a:off x="4517136" y="2157984"/>
            <a:ext cx="146304" cy="146304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2103120"/>
            <a:ext cx="2935224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六检查点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54880" y="2450592"/>
            <a:ext cx="2898648" cy="8503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scope / spec / execution / validation / delivery / escalation，缺一即拒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110728" y="2011680"/>
            <a:ext cx="3483864" cy="1417320"/>
          </a:xfrm>
          <a:prstGeom prst="roundRect">
            <a:avLst>
              <a:gd name="adj" fmla="val 7742"/>
            </a:avLst>
          </a:prstGeom>
          <a:solidFill>
            <a:srgbClr val="E9EEFB"/>
          </a:solidFill>
          <a:ln/>
        </p:spPr>
      </p:sp>
      <p:sp>
        <p:nvSpPr>
          <p:cNvPr id="16" name="Shape 14"/>
          <p:cNvSpPr/>
          <p:nvPr/>
        </p:nvSpPr>
        <p:spPr>
          <a:xfrm>
            <a:off x="8275320" y="2157984"/>
            <a:ext cx="146304" cy="146304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7" name="Text 15"/>
          <p:cNvSpPr/>
          <p:nvPr/>
        </p:nvSpPr>
        <p:spPr>
          <a:xfrm>
            <a:off x="8513064" y="2103120"/>
            <a:ext cx="2935224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授权单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513064" y="2450592"/>
            <a:ext cx="2898648" cy="8503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不可变快照 + HEAD-BOUND SHA，任一变化授权即失效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94360" y="3648456"/>
            <a:ext cx="3483864" cy="1417320"/>
          </a:xfrm>
          <a:prstGeom prst="roundRect">
            <a:avLst>
              <a:gd name="adj" fmla="val 7742"/>
            </a:avLst>
          </a:prstGeom>
          <a:solidFill>
            <a:srgbClr val="E9EEFB"/>
          </a:solidFill>
          <a:ln/>
        </p:spPr>
      </p:sp>
      <p:sp>
        <p:nvSpPr>
          <p:cNvPr id="20" name="Shape 18"/>
          <p:cNvSpPr/>
          <p:nvPr/>
        </p:nvSpPr>
        <p:spPr>
          <a:xfrm>
            <a:off x="758952" y="3794760"/>
            <a:ext cx="146304" cy="146304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1" name="Text 19"/>
          <p:cNvSpPr/>
          <p:nvPr/>
        </p:nvSpPr>
        <p:spPr>
          <a:xfrm>
            <a:off x="996696" y="3739896"/>
            <a:ext cx="2935224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权限模型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96696" y="4087368"/>
            <a:ext cx="2898648" cy="8503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 × code_access 与 control_actions 独立评估，批准人不改仓库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352544" y="3648456"/>
            <a:ext cx="3483864" cy="1417320"/>
          </a:xfrm>
          <a:prstGeom prst="roundRect">
            <a:avLst>
              <a:gd name="adj" fmla="val 7742"/>
            </a:avLst>
          </a:prstGeom>
          <a:solidFill>
            <a:srgbClr val="E9EEFB"/>
          </a:solidFill>
          <a:ln/>
        </p:spPr>
      </p:sp>
      <p:sp>
        <p:nvSpPr>
          <p:cNvPr id="24" name="Shape 22"/>
          <p:cNvSpPr/>
          <p:nvPr/>
        </p:nvSpPr>
        <p:spPr>
          <a:xfrm>
            <a:off x="4517136" y="3794760"/>
            <a:ext cx="146304" cy="146304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5" name="Text 23"/>
          <p:cNvSpPr/>
          <p:nvPr/>
        </p:nvSpPr>
        <p:spPr>
          <a:xfrm>
            <a:off x="4754880" y="3739896"/>
            <a:ext cx="2935224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凭据安全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754880" y="4087368"/>
            <a:ext cx="2898648" cy="8503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不进 GUI / span，编码 Agent 不持生产凭据，审批端点拒收身份字段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8110728" y="3648456"/>
            <a:ext cx="3483864" cy="1417320"/>
          </a:xfrm>
          <a:prstGeom prst="roundRect">
            <a:avLst>
              <a:gd name="adj" fmla="val 7742"/>
            </a:avLst>
          </a:prstGeom>
          <a:solidFill>
            <a:srgbClr val="E9EEFB"/>
          </a:solidFill>
          <a:ln/>
        </p:spPr>
      </p:sp>
      <p:sp>
        <p:nvSpPr>
          <p:cNvPr id="28" name="Shape 26"/>
          <p:cNvSpPr/>
          <p:nvPr/>
        </p:nvSpPr>
        <p:spPr>
          <a:xfrm>
            <a:off x="8275320" y="3794760"/>
            <a:ext cx="146304" cy="146304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9" name="Text 27"/>
          <p:cNvSpPr/>
          <p:nvPr/>
        </p:nvSpPr>
        <p:spPr>
          <a:xfrm>
            <a:off x="8513064" y="3739896"/>
            <a:ext cx="2935224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append-only 审计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513064" y="4087368"/>
            <a:ext cx="2898648" cy="8503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决策历史、调用版本、证据逐条留痕，不可篡改可复核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94360" y="5230368"/>
            <a:ext cx="11000232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管理步骤：定义契约 → 独立验证 → 授权审批 → 自动合并 → 审计留痕 → 整 ChangeSet 回滚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594360" y="5669280"/>
            <a:ext cx="11000232" cy="457200"/>
          </a:xfrm>
          <a:prstGeom prst="roundRect">
            <a:avLst>
              <a:gd name="adj" fmla="val 50000"/>
            </a:avLst>
          </a:prstGeom>
          <a:solidFill>
            <a:srgbClr val="E9EEFB"/>
          </a:solidFill>
          <a:ln/>
        </p:spPr>
      </p:sp>
      <p:sp>
        <p:nvSpPr>
          <p:cNvPr id="33" name="Text 31"/>
          <p:cNvSpPr/>
          <p:nvPr/>
        </p:nvSpPr>
        <p:spPr>
          <a:xfrm>
            <a:off x="365760" y="0"/>
            <a:ext cx="10268712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对齐 NIST SSDF：保护软件组件 · 保留来源 · 独立或自动审查 · 安全测试 · 漏洞响应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050" dirty="0"/>
          </a:p>
        </p:txBody>
      </p:sp>
      <p:sp>
        <p:nvSpPr>
          <p:cNvPr id="35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AI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第五章 · 5.5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950976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5.5  云产品选型的必要性与边界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3716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 AgentTeams 为多 Agent 协同基点 —— 必要、可观测、可降级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628071" y="384048"/>
            <a:ext cx="969264" cy="384048"/>
          </a:xfrm>
          <a:prstGeom prst="roundRect">
            <a:avLst>
              <a:gd name="adj" fmla="val 50000"/>
            </a:avLst>
          </a:prstGeom>
          <a:solidFill>
            <a:srgbClr val="FFEDE4"/>
          </a:solidFill>
          <a:ln w="12700">
            <a:solidFill>
              <a:srgbClr val="FFD9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28071" y="384048"/>
            <a:ext cx="969264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选型有据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828800"/>
            <a:ext cx="594360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必要性 —— 为什么选这三件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4360" y="2240280"/>
            <a:ext cx="5943600" cy="1097280"/>
          </a:xfrm>
          <a:prstGeom prst="roundRect">
            <a:avLst>
              <a:gd name="adj" fmla="val 10000"/>
            </a:avLst>
          </a:prstGeom>
          <a:solidFill>
            <a:srgbClr val="E9EEFB"/>
          </a:solidFill>
          <a:ln/>
        </p:spPr>
      </p:sp>
      <p:sp>
        <p:nvSpPr>
          <p:cNvPr id="9" name="Shape 7"/>
          <p:cNvSpPr/>
          <p:nvPr/>
        </p:nvSpPr>
        <p:spPr>
          <a:xfrm>
            <a:off x="758952" y="2386584"/>
            <a:ext cx="146304" cy="146304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0" name="Text 8"/>
          <p:cNvSpPr/>
          <p:nvPr/>
        </p:nvSpPr>
        <p:spPr>
          <a:xfrm>
            <a:off x="996696" y="233172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AgentTeams —— 协同基点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96696" y="2679192"/>
            <a:ext cx="5358384" cy="53035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Manager-Workers 只组织多 Agent Runtime；Matrix + MinIO + Higress 统一协作与资源，满足赛题基点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94360" y="3474720"/>
            <a:ext cx="5943600" cy="1097280"/>
          </a:xfrm>
          <a:prstGeom prst="roundRect">
            <a:avLst>
              <a:gd name="adj" fmla="val 10000"/>
            </a:avLst>
          </a:prstGeom>
          <a:solidFill>
            <a:srgbClr val="E9EEFB"/>
          </a:solidFill>
          <a:ln/>
        </p:spPr>
      </p:sp>
      <p:sp>
        <p:nvSpPr>
          <p:cNvPr id="13" name="Shape 11"/>
          <p:cNvSpPr/>
          <p:nvPr/>
        </p:nvSpPr>
        <p:spPr>
          <a:xfrm>
            <a:off x="758952" y="3621024"/>
            <a:ext cx="146304" cy="146304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4" name="Text 12"/>
          <p:cNvSpPr/>
          <p:nvPr/>
        </p:nvSpPr>
        <p:spPr>
          <a:xfrm>
            <a:off x="996696" y="356616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Higress —— 观测汇聚点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96696" y="3913632"/>
            <a:ext cx="5358384" cy="53035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网关天然汇聚全部 Agent 的 LLM 调用，OTel 插件一处覆盖 8 容器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709160"/>
            <a:ext cx="5943600" cy="1097280"/>
          </a:xfrm>
          <a:prstGeom prst="roundRect">
            <a:avLst>
              <a:gd name="adj" fmla="val 10000"/>
            </a:avLst>
          </a:prstGeom>
          <a:solidFill>
            <a:srgbClr val="E9EEFB"/>
          </a:solidFill>
          <a:ln/>
        </p:spPr>
      </p:sp>
      <p:sp>
        <p:nvSpPr>
          <p:cNvPr id="17" name="Shape 15"/>
          <p:cNvSpPr/>
          <p:nvPr/>
        </p:nvSpPr>
        <p:spPr>
          <a:xfrm>
            <a:off x="758952" y="4855464"/>
            <a:ext cx="146304" cy="146304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8" name="Text 16"/>
          <p:cNvSpPr/>
          <p:nvPr/>
        </p:nvSpPr>
        <p:spPr>
          <a:xfrm>
            <a:off x="996696" y="480060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LoongSuite —— 采集端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96696" y="5148072"/>
            <a:ext cx="5358384" cy="53035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侧 hook / 插件，与展示端 OTLP 解耦，改 endpoint 即切换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720840" y="1828800"/>
            <a:ext cx="4873752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边界与降级 —— 诚实、可控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720840" y="2240280"/>
            <a:ext cx="4873752" cy="1097280"/>
          </a:xfrm>
          <a:prstGeom prst="roundRect">
            <a:avLst>
              <a:gd name="adj" fmla="val 10000"/>
            </a:avLst>
          </a:prstGeom>
          <a:solidFill>
            <a:srgbClr val="E9EEFB"/>
          </a:solidFill>
          <a:ln/>
        </p:spPr>
      </p:sp>
      <p:sp>
        <p:nvSpPr>
          <p:cNvPr id="22" name="Shape 20"/>
          <p:cNvSpPr/>
          <p:nvPr/>
        </p:nvSpPr>
        <p:spPr>
          <a:xfrm>
            <a:off x="6885432" y="2386584"/>
            <a:ext cx="146304" cy="146304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3" name="Text 21"/>
          <p:cNvSpPr/>
          <p:nvPr/>
        </p:nvSpPr>
        <p:spPr>
          <a:xfrm>
            <a:off x="7123176" y="23317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存储可替换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123176" y="2679192"/>
            <a:ext cx="4297680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短期 AgentScope Studio 零成本；中期自建 Collector + ClickHouse（OTLP 不变）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720840" y="3474720"/>
            <a:ext cx="4873752" cy="1097280"/>
          </a:xfrm>
          <a:prstGeom prst="roundRect">
            <a:avLst>
              <a:gd name="adj" fmla="val 10000"/>
            </a:avLst>
          </a:prstGeom>
          <a:solidFill>
            <a:srgbClr val="E9EEFB"/>
          </a:solidFill>
          <a:ln/>
        </p:spPr>
      </p:sp>
      <p:sp>
        <p:nvSpPr>
          <p:cNvPr id="26" name="Shape 24"/>
          <p:cNvSpPr/>
          <p:nvPr/>
        </p:nvSpPr>
        <p:spPr>
          <a:xfrm>
            <a:off x="6885432" y="3621024"/>
            <a:ext cx="146304" cy="146304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7" name="Text 25"/>
          <p:cNvSpPr/>
          <p:nvPr/>
        </p:nvSpPr>
        <p:spPr>
          <a:xfrm>
            <a:off x="7123176" y="356616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前端诚实降级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123176" y="3913632"/>
            <a:ext cx="4297680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三态分开：未接入 ≠ 未探测，不假装已观测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720840" y="4709160"/>
            <a:ext cx="4873752" cy="1097280"/>
          </a:xfrm>
          <a:prstGeom prst="roundRect">
            <a:avLst>
              <a:gd name="adj" fmla="val 10000"/>
            </a:avLst>
          </a:prstGeom>
          <a:solidFill>
            <a:srgbClr val="E9EEFB"/>
          </a:solidFill>
          <a:ln/>
        </p:spPr>
      </p:sp>
      <p:sp>
        <p:nvSpPr>
          <p:cNvPr id="30" name="Shape 28"/>
          <p:cNvSpPr/>
          <p:nvPr/>
        </p:nvSpPr>
        <p:spPr>
          <a:xfrm>
            <a:off x="6885432" y="4855464"/>
            <a:ext cx="146304" cy="146304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31" name="Text 29"/>
          <p:cNvSpPr/>
          <p:nvPr/>
        </p:nvSpPr>
        <p:spPr>
          <a:xfrm>
            <a:off x="7123176" y="480060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部署前安全清单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7123176" y="5148072"/>
            <a:ext cx="4297680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Studio 监听隔离入站 · intercept.js 密钥脱敏 · LoongSuite 安装脚本来源审阅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94360" y="5852160"/>
            <a:ext cx="11000232" cy="457200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/>
        </p:spPr>
      </p:sp>
      <p:sp>
        <p:nvSpPr>
          <p:cNvPr id="34" name="Text 32"/>
          <p:cNvSpPr/>
          <p:nvPr/>
        </p:nvSpPr>
        <p:spPr>
          <a:xfrm>
            <a:off x="960120" y="5852160"/>
            <a:ext cx="10268712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选型原则 —— 满足赛题基点 · 观测可插拔 · 数据不出域 · 降级不撒谎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050" dirty="0"/>
          </a:p>
        </p:txBody>
      </p:sp>
      <p:sp>
        <p:nvSpPr>
          <p:cNvPr id="36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RepoMesh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第五章 工程落地、运行验证与安全可审计 —— RepoMesh 多 Agent 可观测交付控制平面</dc:title>
  <dc:subject>GOAI 世界人工智能开源大赛 · 初赛方案</dc:subject>
  <dc:creator>GOAI 参赛团队</dc:creator>
  <cp:lastModifiedBy>GOAI 参赛团队</cp:lastModifiedBy>
  <cp:revision>1</cp:revision>
  <dcterms:created xsi:type="dcterms:W3CDTF">2026-08-16T09:46:46Z</dcterms:created>
  <dcterms:modified xsi:type="dcterms:W3CDTF">2026-08-16T09:46:46Z</dcterms:modified>
</cp:coreProperties>
</file>