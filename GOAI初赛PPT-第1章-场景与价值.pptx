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411480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720840" y="411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权重 25%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5669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A8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初赛方案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第一章  场景与价值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13232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C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7772400" cy="777240"/>
          </a:xfrm>
          <a:prstGeom prst="roundRect">
            <a:avLst>
              <a:gd name="adj" fmla="val 16471"/>
            </a:avLst>
          </a:prstGeom>
          <a:solidFill>
            <a:srgbClr val="12294A"/>
          </a:solidFill>
          <a:ln w="12700">
            <a:solidFill>
              <a:srgbClr val="2B4D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063240"/>
            <a:ext cx="74523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把产品需求自动转化为「经过独立验证 · 可观测 · 可审计 · 可回滚」的 Release Candidate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8580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4343400"/>
            <a:ext cx="320040" cy="82296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11" name="Shape 9"/>
          <p:cNvSpPr/>
          <p:nvPr/>
        </p:nvSpPr>
        <p:spPr>
          <a:xfrm>
            <a:off x="1874520" y="4343400"/>
            <a:ext cx="164592" cy="82296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42062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8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目标用户与痛点 · 真实场景 · 可量化价值 · 可复制性 · 创新与差异化</a:t>
            </a:r>
            <a:endParaRPr lang="en-US" sz="1150" dirty="0"/>
          </a:p>
        </p:txBody>
      </p:sp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329184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100" kern="0" dirty="0">
                <a:solidFill>
                  <a:srgbClr val="0B1B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本部分内容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81328" y="78638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对应评分维度「场景价值与行业可复制性 · 25%」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499616" cy="246888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499616" cy="82296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26060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目标用户与核心痛点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3383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谁在痛 · 痛在哪 · 有行业证据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39696" y="1554480"/>
            <a:ext cx="1499616" cy="246888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9696" y="1554480"/>
            <a:ext cx="1499616" cy="82296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3" name="Text 11"/>
          <p:cNvSpPr/>
          <p:nvPr/>
        </p:nvSpPr>
        <p:spPr>
          <a:xfrm>
            <a:off x="2139696" y="187452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249424" y="26060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49424" y="3383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跨仓库需求 · 全流程已实测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22192" y="1554480"/>
            <a:ext cx="1499616" cy="246888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22192" y="1554480"/>
            <a:ext cx="1499616" cy="82296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3822192" y="187452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931920" y="26060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可量化的价值收益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31920" y="3383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交付时间 · 通过率 · 成本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04688" y="1554480"/>
            <a:ext cx="1499616" cy="246888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04688" y="1554480"/>
            <a:ext cx="1499616" cy="82296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3" name="Text 21"/>
          <p:cNvSpPr/>
          <p:nvPr/>
        </p:nvSpPr>
        <p:spPr>
          <a:xfrm>
            <a:off x="5504688" y="187452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614416" y="26060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14416" y="3383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Saleor · TrainTicket · 方法论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87184" y="1554480"/>
            <a:ext cx="1499616" cy="246888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1554480"/>
            <a:ext cx="1499616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187184" y="187452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296912" y="26060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创新点与差异化优势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296912" y="3383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四支柱 · 对标三家独有</a:t>
            </a:r>
            <a:endParaRPr lang="en-US" sz="950" dirty="0"/>
          </a:p>
        </p:txBody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1F6FE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329184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100" kern="0" dirty="0">
                <a:solidFill>
                  <a:srgbClr val="0B1B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目标用户与核心痛点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81328" y="78638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 DORA 2025 / Stack Overflow 2025 行业证据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379476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737360"/>
            <a:ext cx="256032" cy="256032"/>
          </a:xfrm>
          <a:prstGeom prst="ellipse">
            <a:avLst/>
          </a:prstGeom>
          <a:solidFill>
            <a:srgbClr val="0EA5B7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737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14984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研发负责人 / 平台工程 / SRE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14984" y="186537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 交付结果负责，缺少把生成速度变成稳定交付的体系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379476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" y="2523744"/>
            <a:ext cx="256032" cy="256032"/>
          </a:xfrm>
          <a:prstGeom prst="ellipse">
            <a:avLst/>
          </a:prstGeom>
          <a:solidFill>
            <a:srgbClr val="0EA5B7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14984" y="23865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 / 业务侧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14984" y="265176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需求横跨多仓库落地，无法追踪进展、验证结果、控制风险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79476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3310128"/>
            <a:ext cx="256032" cy="256032"/>
          </a:xfrm>
          <a:prstGeom prst="ellipse">
            <a:avLst/>
          </a:prstGeom>
          <a:solidFill>
            <a:srgbClr val="0EA5B7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" y="33101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14984" y="3172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开源项目维护者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14984" y="343814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 PR 井喷，跨仓库改动审核难、回滚压力大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11704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核心痛点（有行业证据）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17720" y="1517904"/>
            <a:ext cx="40690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45736" y="1682496"/>
            <a:ext cx="182880" cy="18288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5" name="Text 23"/>
          <p:cNvSpPr/>
          <p:nvPr/>
        </p:nvSpPr>
        <p:spPr>
          <a:xfrm>
            <a:off x="5020056" y="156362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编码已普及，交付却更不稳定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0056" y="1773936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DORA 2025：90% 已在工作中使用 AI，吞吐提升的同时交付不稳定性上升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17720" y="2084832"/>
            <a:ext cx="40690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45736" y="2249424"/>
            <a:ext cx="182880" cy="18288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9" name="Text 27"/>
          <p:cNvSpPr/>
          <p:nvPr/>
        </p:nvSpPr>
        <p:spPr>
          <a:xfrm>
            <a:off x="5020056" y="213055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 输出缺乏信任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0056" y="2340864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Stack Overflow 2025：46% 不信任输出准确性，41.4% 认为复杂任务表现差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17720" y="2651760"/>
            <a:ext cx="40690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2816352"/>
            <a:ext cx="182880" cy="18288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3" name="Text 31"/>
          <p:cNvSpPr/>
          <p:nvPr/>
        </p:nvSpPr>
        <p:spPr>
          <a:xfrm>
            <a:off x="5020056" y="269748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单仓库、短任务的天花板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0056" y="2907792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Cloud Agent：1 仓库 1 PR 59 分钟，真实需求跨多仓库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17720" y="3218688"/>
            <a:ext cx="40690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45736" y="3383280"/>
            <a:ext cx="182880" cy="18288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7" name="Text 35"/>
          <p:cNvSpPr/>
          <p:nvPr/>
        </p:nvSpPr>
        <p:spPr>
          <a:xfrm>
            <a:off x="5020056" y="326440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 Agent 自测自证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0056" y="3474720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自己声明成功、自己跑测试，没有独立验证方与可审计证据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2920" y="3950208"/>
            <a:ext cx="8183880" cy="658368"/>
          </a:xfrm>
          <a:prstGeom prst="roundRect">
            <a:avLst>
              <a:gd name="adj" fmla="val 16667"/>
            </a:avLst>
          </a:prstGeom>
          <a:solidFill>
            <a:srgbClr val="FFF4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3950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一句话痛点：企业不缺代码生成工具，缺的是把「生成速度」转化为「稳定、可验证、可追溯」交付的控制体系</a:t>
            </a:r>
            <a:endParaRPr lang="en-US" sz="1250" dirty="0"/>
          </a:p>
        </p:txBody>
      </p:sp>
      <p:sp>
        <p:nvSpPr>
          <p:cNvPr id="4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1F6FE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329184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100" kern="0" dirty="0">
                <a:solidFill>
                  <a:srgbClr val="0B1B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真实场景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81328" y="78638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一次需求，跨仓库自动完成「澄清 → 计划 → 执行 → 验证 → 审批 → 发布 → 回滚」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914400" cy="841248"/>
          </a:xfrm>
          <a:prstGeom prst="roundRect">
            <a:avLst>
              <a:gd name="adj" fmla="val 9783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8988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/Issue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76172" y="1417320"/>
            <a:ext cx="1280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99616" y="1298448"/>
            <a:ext cx="914400" cy="841248"/>
          </a:xfrm>
          <a:prstGeom prst="roundRect">
            <a:avLst>
              <a:gd name="adj" fmla="val 9783"/>
            </a:avLst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1545336" y="138988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18588" y="1417320"/>
            <a:ext cx="1280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42032" y="1298448"/>
            <a:ext cx="914400" cy="841248"/>
          </a:xfrm>
          <a:prstGeom prst="roundRect">
            <a:avLst>
              <a:gd name="adj" fmla="val 9783"/>
            </a:avLst>
          </a:prstGeom>
          <a:solidFill>
            <a:srgbClr val="1F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2587752" y="138988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61004" y="1417320"/>
            <a:ext cx="1280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84448" y="1298448"/>
            <a:ext cx="914400" cy="841248"/>
          </a:xfrm>
          <a:prstGeom prst="roundRect">
            <a:avLst>
              <a:gd name="adj" fmla="val 9783"/>
            </a:avLst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630168" y="138988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03420" y="1417320"/>
            <a:ext cx="1280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26864" y="1298448"/>
            <a:ext cx="914400" cy="841248"/>
          </a:xfrm>
          <a:prstGeom prst="roundRect">
            <a:avLst>
              <a:gd name="adj" fmla="val 9783"/>
            </a:avLst>
          </a:prstGeom>
          <a:solidFill>
            <a:srgbClr val="1F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672584" y="138988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545836" y="1417320"/>
            <a:ext cx="1280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0" y="1298448"/>
            <a:ext cx="914400" cy="841248"/>
          </a:xfrm>
          <a:prstGeom prst="roundRect">
            <a:avLst>
              <a:gd name="adj" fmla="val 9783"/>
            </a:avLst>
          </a:prstGeom>
          <a:solidFill>
            <a:srgbClr val="1F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138988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8252" y="1417320"/>
            <a:ext cx="1280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11696" y="1298448"/>
            <a:ext cx="914400" cy="841248"/>
          </a:xfrm>
          <a:prstGeom prst="roundRect">
            <a:avLst>
              <a:gd name="adj" fmla="val 9783"/>
            </a:avLst>
          </a:prstGeom>
          <a:solidFill>
            <a:srgbClr val="1F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6757416" y="138988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30668" y="1417320"/>
            <a:ext cx="1280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54112" y="1298448"/>
            <a:ext cx="914400" cy="841248"/>
          </a:xfrm>
          <a:prstGeom prst="roundRect">
            <a:avLst>
              <a:gd name="adj" fmla="val 978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799832" y="138988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+回滚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2212848"/>
            <a:ext cx="8183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全程可观测 · 可审计 · 可回滚（2026-08-12 已实机走通，详见 1.3）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2606040"/>
            <a:ext cx="40233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E6EE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606040"/>
            <a:ext cx="82296" cy="205740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27523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真实需求 · Saleor 开源项目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" y="30083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改结账商品价格时记录修改原因 —— 横跨 4 个仓库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5800" y="3447288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01600" indent="-1016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PR #19466：数据模型 / 迁移 / GraphQL / 17 个测试</a:t>
            </a:r>
            <a:endParaRPr lang="en-US" sz="900" dirty="0"/>
          </a:p>
          <a:p>
            <a:pPr algn="l" marL="101600" indent="-1016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PR #6732：类型 / 查询 / 管理界面</a:t>
            </a:r>
            <a:endParaRPr lang="en-US" sz="900" dirty="0"/>
          </a:p>
          <a:p>
            <a:pPr algn="l" marL="101600" indent="-1016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Apps PR #2393 + Docs PR #1809：示例应用与文档</a:t>
            </a:r>
            <a:endParaRPr lang="en-US" sz="900" dirty="0"/>
          </a:p>
          <a:p>
            <a:pPr algn="l" marL="101600" indent="-1016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无法完成 —— 必须多仓库编排与独立验证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2606040"/>
            <a:ext cx="40233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2606040"/>
            <a:ext cx="82296" cy="2057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7523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已实测 · RepoMesh 全流程闭环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30083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建 Issue → 真实代码 → 测试 exit 0 → 合并 → 回滚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46320" y="3447288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01600" indent="-1016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Agent 真写代码，Runner 代跑测试，无测试结果证据被拒收</a:t>
            </a:r>
            <a:endParaRPr lang="en-US" sz="900" dirty="0"/>
          </a:p>
          <a:p>
            <a:pPr algn="l" marL="101600" indent="-1016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候选分支推真仓 → PR → CI 绿 → 授权单（不可变快照+SHA）</a:t>
            </a:r>
            <a:endParaRPr lang="en-US" sz="900" dirty="0"/>
          </a:p>
          <a:p>
            <a:pPr algn="l" marL="101600" indent="-1016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 merge → 整 ChangeSet 回滚 → 自动开出 revert PR</a:t>
            </a:r>
            <a:endParaRPr lang="en-US" sz="900" dirty="0"/>
          </a:p>
          <a:p>
            <a:pPr algn="l" marL="101600" indent="-101600">
              <a:lnSpc>
                <a:spcPct val="112000"/>
              </a:lnSpc>
              <a:buSzPct val="100000"/>
              <a:buChar char="•"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 GUI，0 步命令行写入（独立验收实证）</a:t>
            </a:r>
            <a:endParaRPr lang="en-US" sz="9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1F6FE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329184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100" kern="0" dirty="0">
                <a:solidFill>
                  <a:srgbClr val="0B1B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可量化的价值收益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81328" y="78638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收益方向已被行业验证（Sourcegraph / Anthropic 实测数据），本方案提供同样口径的衡量体系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41605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30759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100%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94560" y="12710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 GUI 闭环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52704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→ 合并 → 回滚全程 GUI 完成，0 步命令行写入；独立验收会话实证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41605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31343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拒假绿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94560" y="22768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拒绝「假绿」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5328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拒写死税率、断言加强为 EUR / JPY / GBP 三币种、跨仓问题如实上报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416052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319272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可核算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94560" y="32826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issue / 仓库 / Agent 聚合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5387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观测链路按 run_id 聚合 token 与费用，直接支撑预算与模型选型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83480" y="11887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Saleor 验证衡量体系（评分权重）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536192"/>
          <a:ext cx="3657600" cy="233172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隐藏功能测试通过率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跨仓库契约一致性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原有测试无回归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权限与安全边界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迁移与回滚能力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代码质量 / 证据完整度 / 成本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B1B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 5%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E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02920" y="4224528"/>
            <a:ext cx="8183880" cy="457200"/>
          </a:xfrm>
          <a:prstGeom prst="roundRect">
            <a:avLst>
              <a:gd name="adj" fmla="val 20000"/>
            </a:avLst>
          </a:prstGeom>
          <a:solidFill>
            <a:srgbClr val="EAF4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422452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4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行业收益已被同类产品实测：Sourcegraph 单任务成本 ▼30% · 执行速度 ▲38%；Anthropic（Notion 案例）12 小时工作 → 20 分钟 —— 本方案在同一赛道提供完整闭环与可回滚</a:t>
            </a:r>
            <a:endParaRPr lang="en-US" sz="95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1F6FE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329184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100" kern="0" dirty="0">
                <a:solidFill>
                  <a:srgbClr val="0B1B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行业可复制性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81328" y="78638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开源验证对象 + 离线评估集 + 方法论迁移，无需企业私码即可复现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4023360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35608"/>
            <a:ext cx="420624" cy="420624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35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4538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Saleor 五仓库开源验证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34440" y="18013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saleor / saleor-dashboard / apps / docs / platform 真实活跃多仓库，公开可见可复现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023360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35608"/>
            <a:ext cx="420624" cy="420624"/>
          </a:xfrm>
          <a:prstGeom prst="ellipse">
            <a:avLst/>
          </a:prstGeom>
          <a:solidFill>
            <a:srgbClr val="0EA5B7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35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94960" y="14538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TrainTicket 离线评估集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94960" y="1801368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个用例 recall / precision / F1 科学量化，与观测 trace 联动校准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4023360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008376"/>
            <a:ext cx="420624" cy="420624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083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0266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方法论可迁移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34440" y="337413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Contract（机器可检查交付契约）+ Release Evidence Pack（交付证据包）复制到任意存量项目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807208"/>
            <a:ext cx="4023360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008376"/>
            <a:ext cx="420624" cy="420624"/>
          </a:xfrm>
          <a:prstGeom prst="ellipse">
            <a:avLst/>
          </a:prstGeom>
          <a:solidFill>
            <a:srgbClr val="0EA5B7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0083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94960" y="30266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可复制场景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94960" y="337413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增量功能 / Bug 修复 / 简单重构；GitHub / GitLab 生态；2-3 仓库起步扩展到多仓并发交付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4279392"/>
            <a:ext cx="8183880" cy="502920"/>
          </a:xfrm>
          <a:prstGeom prst="roundRect">
            <a:avLst>
              <a:gd name="adj" fmla="val 18182"/>
            </a:avLst>
          </a:prstGeom>
          <a:solidFill>
            <a:srgbClr val="0B1B33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2793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「Built to scale」—— 从开源项目到企业存量代码库（Fortune 500 级复杂度）均可落地</a:t>
            </a:r>
            <a:endParaRPr lang="en-US" sz="11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918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1F6FE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329184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spc="100" kern="0" dirty="0">
                <a:solidFill>
                  <a:srgbClr val="0B1B3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创新点与差异化优势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81328" y="786384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我们不是又一个 Coding Agent —— 我们是位于其上方的「受控软件交付团队」组织者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8183880" cy="502920"/>
          </a:xfrm>
          <a:prstGeom prst="roundRect">
            <a:avLst>
              <a:gd name="adj" fmla="val 18182"/>
            </a:avLst>
          </a:prstGeom>
          <a:solidFill>
            <a:srgbClr val="FFF4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不是：另一个 Coding Agent（Claude Code / Codex 只是可替换执行器）· 不是应用框架 / 观测工具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而是：把多个职能 Agent 组织成「受控软件交付团队」的可观测控制平面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810512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10512"/>
            <a:ext cx="82296" cy="11887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19202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Delivery Contract + 独立验证（有牙齿）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22376" y="2212848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需求先转成机器可检查的交付契约；开发 Agent 不能自行宣布成功；无测试结果的证据被硬性拒收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810512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810512"/>
            <a:ext cx="82296" cy="1188720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15" name="Text 13"/>
          <p:cNvSpPr/>
          <p:nvPr/>
        </p:nvSpPr>
        <p:spPr>
          <a:xfrm>
            <a:off x="4882896" y="19202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全链路可观测、可审计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82896" y="2212848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GenAI 语义 v1.38 + 自有 10 属性命名空间；Release Evidence Pack 十项齐全（需求/身份/DAG/PR/测试/审批/回滚）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108960"/>
            <a:ext cx="82296" cy="1188720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321868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跨仓库一致性 + 回滚恢复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2376" y="3511296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跨仓任务 DAG、按依赖顺序构建；三阶段回滚 + 数据库迁移补偿，恢复上一跨仓库一致状态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108960"/>
            <a:ext cx="82296" cy="1188720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23" name="Text 21"/>
          <p:cNvSpPr/>
          <p:nvPr/>
        </p:nvSpPr>
        <p:spPr>
          <a:xfrm>
            <a:off x="4882896" y="321868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安全治理内建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82896" y="3511296"/>
            <a:ext cx="3703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457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人工审批必经点、HEAD-BOUND 授权（绑定不可变快照，任一变化授权失效）、凭据不进 GUI / 不进 trace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4480560"/>
            <a:ext cx="8183880" cy="457200"/>
          </a:xfrm>
          <a:prstGeom prst="roundRect">
            <a:avLst>
              <a:gd name="adj" fmla="val 20000"/>
            </a:avLst>
          </a:prstGeom>
          <a:solidFill>
            <a:srgbClr val="0B1B3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对标：Sourcegraph 审查后 merge（无契约、无回滚）· Claude 会话可重建（无跨仓变更单元）· Augment 认证与大上下文（无交付闭环）—— 完整闭环 + 可替换执行器 + ChangeSet 级回滚是我们的独有空间</a:t>
            </a:r>
            <a:endParaRPr lang="en-US" sz="95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FC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· 多 Agent 可观测交付控制平面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16916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把「生成速度」转化为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「稳定 · 可验证 · 可追溯」的交付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33832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2294A"/>
          </a:solidFill>
          <a:ln w="12700">
            <a:solidFill>
              <a:srgbClr val="2B4D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3832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目标用户与痛点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350008" y="33832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2294A"/>
          </a:solidFill>
          <a:ln w="12700">
            <a:solidFill>
              <a:srgbClr val="2B4D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0008" y="33832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真实场景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14216" y="33832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2294A"/>
          </a:solidFill>
          <a:ln w="12700">
            <a:solidFill>
              <a:srgbClr val="2B4D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14216" y="33832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可量化价值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78424" y="33832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2294A"/>
          </a:solidFill>
          <a:ln w="12700">
            <a:solidFill>
              <a:srgbClr val="2B4D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78424" y="33832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可复制性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42632" y="33832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12294A"/>
          </a:solidFill>
          <a:ln w="12700">
            <a:solidFill>
              <a:srgbClr val="2B4D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42632" y="33832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C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创新与差异化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4343400"/>
            <a:ext cx="68580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1463040" y="4343400"/>
            <a:ext cx="320040" cy="82296"/>
          </a:xfrm>
          <a:prstGeom prst="rect">
            <a:avLst/>
          </a:prstGeom>
          <a:solidFill>
            <a:srgbClr val="0EA5B7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42062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8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初赛方案 · 第一章（25%）</a:t>
            </a:r>
            <a:endParaRPr lang="en-US" sz="1100" dirty="0"/>
          </a:p>
        </p:txBody>
      </p:sp>
      <p:sp>
        <p:nvSpPr>
          <p:cNvPr id="1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2026-08-16T06:22:11Z</dcterms:created>
  <dcterms:modified xsi:type="dcterms:W3CDTF">2026-08-16T06:22:11Z</dcterms:modified>
</cp:coreProperties>
</file>